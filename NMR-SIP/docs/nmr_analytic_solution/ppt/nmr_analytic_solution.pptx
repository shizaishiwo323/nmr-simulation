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言" id="{4c30d429-1190-9718-72b2-91016d4b6a12}">
          <p14:sldIdLst>
            <p14:sldId id="256"/>
          </p14:sldIdLst>
        </p14:section>
        <p14:section name="模型与方程" id="{36529b65-f8c7-39ec-6ab5-250700419205}">
          <p14:sldIdLst>
            <p14:sldId id="257"/>
            <p14:sldId id="258"/>
            <p14:sldId id="259"/>
          </p14:sldIdLst>
        </p14:section>
        <p14:section name="精确解与快扩散近似" id="{a6c0784f-4704-13ea-3765-7175285b88e9}">
          <p14:sldIdLst>
            <p14:sldId id="260"/>
            <p14:sldId id="261"/>
          </p14:sldIdLst>
        </p14:section>
        <p14:section name="代入参数求解" id="{bef9fdeb-c2b1-6eef-848e-69639e9b40f7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参考文献" id="{2a8fcae1-a68f-0a16-3b00-1b773fad5a3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本报告给出理想二维孔隙（大孔–狭长喉道–小孔）中 NMR 横向弛豫 T2 的精确本征模解与快扩散近似，并把数值模拟所用的真实参数逐步代入，便于与 pyGIMLi 数值解对照。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几何为沿 x 方向的周期链：大孔–喉道–小孔–喉道。这里给出的是孤立孔参照的解析解：大孔、小孔各为二维圆盘，喉道为二维狭缝（平行平板）。所有参数与数值模拟的输入完全一致。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无外加梯度时，横向磁化满足 Bloch–Torrey 方程。孔壁采用 Robin 边界：法向扩散通量等于表面弛豫率乘以磁化。初始磁化均匀，NMR 测得的是孔内磁化的积分。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令 M 等于体弛豫因子乘以 m，体弛豫完全分离。m 满足纯扩散方程和同样的 Robin 边界，展开为本征模之和。每个模态的弛豫速率为体弛豫速率加 D ξn²/a²，权重 An 之和为 1。κ 决定处于快扩散还是慢扩散区。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圆盘的轴对称本征函数为 J0，由 J0' = −J1 得到特征方程 ξ J1/J0 = κ；狭缝的偶对称本征函数为余弦，特征方程为 ξ tan ξ = κ。两式都需数值求根，最低根 ξ0 决定主模态。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 很小时，对特征方程做级数展开：圆盘 ξ0² ≈ 2κ(1 − κ/4)，狭缝 ξ0² ≈ κ(1 − κ/3)。保留首项即经典快扩散关系 1/T2 = 1/T2B + ρ2 S/V。反过来可由 T2 换算孔隙尺寸；注意狭缝的 S/V 是 1/h，同一 T2 按圆盘公式会被放大为 2h。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大孔：κ = 0.05，处于快扩散区。数值求解特征方程得 ξ0 = 0.314262，表面弛豫 T2S = 2025.10 ms，计入体弛豫后 T2 = 1208.99 ms。主模态权重 0.99995，信号近似单指数。快扩散近似给出 1200.0 ms，偏差 −0.74%；加一阶修正 (1 − κ/4) 后偏差降至 0.01%。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小孔：κ = 0.0125，ξ0 = 0.157867，T2S = 501.56 ms，T2 = 429.72 ms；主模态权重 0.999997。快扩散近似 428.57 ms，偏差 −0.27%。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喉道（狭缝）：κ = 1.25×10⁻⁴，几乎完全处于快扩散极限，ξ0 = 0.0111801，T2S = 10.0004 ms，T2 = 9.9672 ms。快扩散近似 9.9668 ms，偏差只有 −0.004%。注意狭缝的 S/V = 1/h。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这里的模拟 T2 是对每个孤立孔自身回波衰减做单指数拟合（M/M0 在 0.9–0.05 之间的 ln M 线性拟合）得到的，没有经过 NNLS 反演；孤立圆孔主模态权重 &gt; 0.9999，可视为单指数。已知 T2，用快扩散关系反解尺寸：圆盘 R = 2ρ2/(1/T2 − 1/T2B)，狭缝 h = ρ2/(1/T2 − 1/T2B)，必须先扣除体弛豫。孤立孔的模拟 T2 反算得 20.26、5.017、0.0503 µm，偏差 +1.3%、+0.3%、+0.6%，其中大孔的 +1.3% 主要是快扩散近似本身的误差（κ/4 ≈ 1.25%）。连通链中两峰按同一公式反算为 17.3 和 3.0 µm，明显偏小，说明连通体系不能直接套用孤立孔公式。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同一组模拟回波，用四种方式提取 T2 再反算尺寸。①直接对孤立孔回波做单指数拟合，误差只来自快扩散近似。②单独对每个孤立孔的回波做 NNLS + L-curve 反演：T2lm 与直接拟合几乎相同，主峰因取分箱中心略偏大。③把三个孤立孔的回波按面积相加后再反演：小孔分量只占 5.9%，又紧挨着占 94% 的大孔峰，正则化平滑会把小峰推向短 T2，孔径偏小约 16%，这是反演方法造成的偏差。④连通链：在反演偏差之外，还有孔间扩散耦合和喉道壁的弛豫汇，小孔区直接拟合的 T2 已降到 312 ms，反算孔径偏小约 40%。喉道在③④中占比仅 0.2%，没有被分辨出来。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三种孔隙的精确解、快扩散近似和数值模拟逐一对照。快扩散近似最大偏差 0.74%（大孔）；数值解与精确解在孔体上相差不超过 0.03%，喉道 0.6%，主要是 0.25 ms 时间步的隐式 Euler 截断误差。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需要注意三点：孤立孔与连通体系不同；二维与三维的 S/V 系数不同；快扩散判据 κ ≪ 1。孤立孔反算误差不超过 1.3%，来源就是快扩散近似本身。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参考文献按 AGU/GRL 作者–年份格式排列。Zhou &amp; Zhang (2025) 的作者全名、卷期与 DOI 需按原文核对。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理想二维孔隙 NMR T2：精确解与快扩散近似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理想二维孔隙中 NMR T</a:t>
            </a:r>
            <a:pPr algn="l" indent="0" marL="0">
              <a:buNone/>
            </a:pPr>
            <a:r>
              <a:rPr lang="en-US" sz="3600" b="1" baseline="-40000" dirty="0">
                <a:solidFill>
                  <a:schemeClr val="bg1"/>
                </a:solidFill>
              </a:rPr>
              <a:t>2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 的精确解析解与快扩散近似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以“大孔–狭长喉道–小孔”模拟案例为例：控制方程、求解过程与参数代入</a:t>
            </a:r>
            <a:endParaRPr lang="en-US" sz="1800" dirty="0"/>
          </a:p>
        </p:txBody>
      </p:sp>
      <p:sp>
        <p:nvSpPr>
          <p:cNvPr id="4" name="motif_throat"/>
          <p:cNvSpPr/>
          <p:nvPr/>
        </p:nvSpPr>
        <p:spPr>
          <a:xfrm>
            <a:off x="8001000" y="3429000"/>
            <a:ext cx="37490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" name="motif_big_pore"/>
          <p:cNvSpPr/>
          <p:nvPr/>
        </p:nvSpPr>
        <p:spPr>
          <a:xfrm>
            <a:off x="8001000" y="2240280"/>
            <a:ext cx="2377440" cy="23774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" name="motif_small_pore"/>
          <p:cNvSpPr/>
          <p:nvPr/>
        </p:nvSpPr>
        <p:spPr>
          <a:xfrm>
            <a:off x="10972800" y="3127248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物理模型与模拟参数</a:t>
            </a:r>
            <a:endParaRPr lang="en-US" sz="3000" dirty="0"/>
          </a:p>
        </p:txBody>
      </p:sp>
      <p:sp>
        <p:nvSpPr>
          <p:cNvPr id="3" name="geometry_card"/>
          <p:cNvSpPr/>
          <p:nvPr/>
        </p:nvSpPr>
        <p:spPr>
          <a:xfrm>
            <a:off x="548640" y="1234440"/>
            <a:ext cx="548640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olid"/>
          <p:cNvSpPr/>
          <p:nvPr/>
        </p:nvSpPr>
        <p:spPr>
          <a:xfrm>
            <a:off x="868680" y="1600200"/>
            <a:ext cx="4846320" cy="2665476"/>
          </a:xfrm>
          <a:prstGeom prst="rect">
            <a:avLst/>
          </a:prstGeom>
          <a:solidFill>
            <a:srgbClr val="E7E3D8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hroat_line"/>
          <p:cNvSpPr/>
          <p:nvPr/>
        </p:nvSpPr>
        <p:spPr>
          <a:xfrm>
            <a:off x="868680" y="2932938"/>
            <a:ext cx="4846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6" name="big_pore"/>
          <p:cNvSpPr/>
          <p:nvPr/>
        </p:nvSpPr>
        <p:spPr>
          <a:xfrm>
            <a:off x="1323023" y="1721358"/>
            <a:ext cx="2423160" cy="2423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mall_pore"/>
          <p:cNvSpPr/>
          <p:nvPr/>
        </p:nvSpPr>
        <p:spPr>
          <a:xfrm>
            <a:off x="4654868" y="2630043"/>
            <a:ext cx="605790" cy="60579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3023" y="341757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大孔 R = 20 µm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0525" y="3326702"/>
            <a:ext cx="15144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小孔 R = 5 µm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028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喉道 h = 0.05 µm（w = 0.1 µm），L = 15 µm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二维（每单位纵深）：圆盘 = 无限长圆柱截面，狭缝 = 平行平板。线宽未按比例。</a:t>
            </a:r>
            <a:endParaRPr lang="en-US" sz="1200" dirty="0"/>
          </a:p>
        </p:txBody>
      </p:sp>
      <p:graphicFrame>
        <p:nvGraphicFramePr>
          <p:cNvPr id="3" name="par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523951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463040"/>
                <a:gridCol w="15819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符号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含义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取值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计算单位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水的自扩散系数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2.0×10⁻⁹ m²/s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 µm²/ms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ρ₂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横向表面弛豫率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µm/s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0.005 µm/ms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T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体弛豫时间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3000 ms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R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大孔半径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µm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R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小孔半径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µm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喉道半宽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0.05 µm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0" y="470916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参数与 Auto_NMR.py 默认值一致（Zhou &amp; Zhang, 2025）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控制方程与边界条件</a:t>
            </a:r>
            <a:endParaRPr lang="en-US" sz="3000" dirty="0"/>
          </a:p>
        </p:txBody>
      </p:sp>
      <p:sp>
        <p:nvSpPr>
          <p:cNvPr id="3" name="gov_card_0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Bloch–Torrey 扩散–弛豫方程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体内扩散 + 体弛豫</a:t>
            </a:r>
            <a:endParaRPr lang="en-US" sz="1400" dirty="0"/>
          </a:p>
        </p:txBody>
      </p:sp>
      <p:pic>
        <p:nvPicPr>
          <p:cNvPr id="8" name="eq_bt" descr="b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28623"/>
            <a:ext cx="3607435" cy="674675"/>
          </a:xfrm>
          <a:prstGeom prst="rect">
            <a:avLst/>
          </a:prstGeom>
        </p:spPr>
      </p:pic>
      <p:sp>
        <p:nvSpPr>
          <p:cNvPr id="9" name="gov_card_1"/>
          <p:cNvSpPr/>
          <p:nvPr/>
        </p:nvSpPr>
        <p:spPr>
          <a:xfrm>
            <a:off x="548640" y="28346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_2"/>
          <p:cNvSpPr/>
          <p:nvPr/>
        </p:nvSpPr>
        <p:spPr>
          <a:xfrm>
            <a:off x="822960" y="32644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Robin 表面弛豫边界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547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孔壁处扩散通量 = 表面弛豫损失</a:t>
            </a:r>
            <a:endParaRPr lang="en-US" sz="1400" dirty="0"/>
          </a:p>
        </p:txBody>
      </p:sp>
      <p:pic>
        <p:nvPicPr>
          <p:cNvPr id="14" name="eq_robin" descr="rob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5796"/>
            <a:ext cx="3682238" cy="357848"/>
          </a:xfrm>
          <a:prstGeom prst="rect">
            <a:avLst/>
          </a:prstGeom>
        </p:spPr>
      </p:pic>
      <p:sp>
        <p:nvSpPr>
          <p:cNvPr id="15" name="gov_card_2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3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4617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初始条件与测量信号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463040" y="5056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均匀初始磁化，信号为孔内积分</a:t>
            </a:r>
            <a:endParaRPr lang="en-US" sz="1400" dirty="0"/>
          </a:p>
        </p:txBody>
      </p:sp>
      <p:pic>
        <p:nvPicPr>
          <p:cNvPr id="20" name="eq_signal" descr="sig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638180"/>
            <a:ext cx="4338574" cy="69060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Torrey (1956)；Senturia &amp; Robinson (1970)；Brownstein &amp; Tarr (1979)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分离变量：本征模展开</a:t>
            </a:r>
            <a:endParaRPr lang="en-US" sz="3000" dirty="0"/>
          </a:p>
        </p:txBody>
      </p:sp>
      <p:sp>
        <p:nvSpPr>
          <p:cNvPr id="3" name="kappa_card"/>
          <p:cNvSpPr/>
          <p:nvPr/>
        </p:nvSpPr>
        <p:spPr>
          <a:xfrm>
            <a:off x="548640" y="1234440"/>
            <a:ext cx="3291840" cy="4480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无量纲表面弛豫数</a:t>
            </a:r>
            <a:endParaRPr lang="en-US" sz="1600" dirty="0"/>
          </a:p>
        </p:txBody>
      </p:sp>
      <p:pic>
        <p:nvPicPr>
          <p:cNvPr id="5" name="eq_kappa" descr="kap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1450899" cy="7871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a：特征长度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圆盘 a = R，狭缝 a = h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κ ≪ 1：快扩散区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κ ≫ 1：慢扩散区</a:t>
            </a:r>
            <a:endParaRPr lang="en-US" sz="1600" dirty="0"/>
          </a:p>
        </p:txBody>
      </p:sp>
      <p:sp>
        <p:nvSpPr>
          <p:cNvPr id="8" name="badge_1"/>
          <p:cNvSpPr/>
          <p:nvPr/>
        </p:nvSpPr>
        <p:spPr>
          <a:xfrm>
            <a:off x="4251960" y="12801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519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体弛豫因子分离，余下为本征值问题</a:t>
            </a:r>
            <a:endParaRPr lang="en-US" sz="1600" dirty="0"/>
          </a:p>
        </p:txBody>
      </p:sp>
      <p:pic>
        <p:nvPicPr>
          <p:cNvPr id="11" name="eq_sep" descr="s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391230" cy="429755"/>
          </a:xfrm>
          <a:prstGeom prst="rect">
            <a:avLst/>
          </a:prstGeom>
        </p:spPr>
      </p:pic>
      <p:sp>
        <p:nvSpPr>
          <p:cNvPr id="12" name="badge_2"/>
          <p:cNvSpPr/>
          <p:nvPr/>
        </p:nvSpPr>
        <p:spPr>
          <a:xfrm>
            <a:off x="4251960" y="2788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51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本征值问题（同一 Robin 边界）</a:t>
            </a:r>
            <a:endParaRPr lang="en-US" sz="1600" dirty="0"/>
          </a:p>
        </p:txBody>
      </p:sp>
      <p:pic>
        <p:nvPicPr>
          <p:cNvPr id="15" name="eq_eig" descr="e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46120"/>
            <a:ext cx="4884877" cy="667436"/>
          </a:xfrm>
          <a:prstGeom prst="rect">
            <a:avLst/>
          </a:prstGeom>
        </p:spPr>
      </p:pic>
      <p:sp>
        <p:nvSpPr>
          <p:cNvPr id="16" name="badge_3"/>
          <p:cNvSpPr/>
          <p:nvPr/>
        </p:nvSpPr>
        <p:spPr>
          <a:xfrm>
            <a:off x="4251960" y="4297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2519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75488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多指数衰减：第 n 模态速率与权重</a:t>
            </a:r>
            <a:endParaRPr lang="en-US" sz="1600" dirty="0"/>
          </a:p>
        </p:txBody>
      </p:sp>
      <p:pic>
        <p:nvPicPr>
          <p:cNvPr id="19" name="eq_modes" descr="mo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754880"/>
            <a:ext cx="5223421" cy="80304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Brownstein &amp; Tarr (1979)；Grebenkov (2007)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精确解：圆盘（孔体）与狭缝（喉道）</a:t>
            </a:r>
            <a:endParaRPr lang="en-US" sz="3000" dirty="0"/>
          </a:p>
        </p:txBody>
      </p:sp>
      <p:sp>
        <p:nvSpPr>
          <p:cNvPr id="3" name="exact_card_0"/>
          <p:cNvSpPr/>
          <p:nvPr/>
        </p:nvSpPr>
        <p:spPr>
          <a:xfrm>
            <a:off x="548640" y="1234440"/>
            <a:ext cx="5364328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_0"/>
          <p:cNvSpPr/>
          <p:nvPr/>
        </p:nvSpPr>
        <p:spPr>
          <a:xfrm>
            <a:off x="822960" y="1463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389888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二维圆盘（大孔、小孔）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本征函数</a:t>
            </a:r>
            <a:endParaRPr lang="en-US" sz="1300" dirty="0"/>
          </a:p>
        </p:txBody>
      </p:sp>
      <p:pic>
        <p:nvPicPr>
          <p:cNvPr id="7" name="eq_disk_phi" descr="disk_p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59152"/>
            <a:ext cx="2047430" cy="585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特征方程（数值求根）</a:t>
            </a:r>
            <a:endParaRPr lang="en-US" sz="1300" dirty="0"/>
          </a:p>
        </p:txBody>
      </p:sp>
      <p:pic>
        <p:nvPicPr>
          <p:cNvPr id="9" name="eq_disk_char" descr="disk_ch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93592"/>
            <a:ext cx="2692908" cy="875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448056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模态权重</a:t>
            </a:r>
            <a:endParaRPr lang="en-US" sz="1300" dirty="0"/>
          </a:p>
        </p:txBody>
      </p:sp>
      <p:pic>
        <p:nvPicPr>
          <p:cNvPr id="11" name="eq_disk_A" descr="disk_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28032"/>
            <a:ext cx="2073008" cy="727519"/>
          </a:xfrm>
          <a:prstGeom prst="rect">
            <a:avLst/>
          </a:prstGeom>
        </p:spPr>
      </p:pic>
      <p:sp>
        <p:nvSpPr>
          <p:cNvPr id="12" name="exact_card_1"/>
          <p:cNvSpPr/>
          <p:nvPr/>
        </p:nvSpPr>
        <p:spPr>
          <a:xfrm>
            <a:off x="6278728" y="1234440"/>
            <a:ext cx="5364328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_1"/>
          <p:cNvSpPr/>
          <p:nvPr/>
        </p:nvSpPr>
        <p:spPr>
          <a:xfrm>
            <a:off x="6553048" y="14630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64528" y="1389888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二维狭缝（喉道，平行平板）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553048" y="20116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本征函数</a:t>
            </a:r>
            <a:endParaRPr lang="en-US" sz="1300" dirty="0"/>
          </a:p>
        </p:txBody>
      </p:sp>
      <p:pic>
        <p:nvPicPr>
          <p:cNvPr id="16" name="eq_slab_phi" descr="slab_ph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2359152"/>
            <a:ext cx="2093277" cy="585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53048" y="32461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特征方程（数值求根）</a:t>
            </a:r>
            <a:endParaRPr lang="en-US" sz="1300" dirty="0"/>
          </a:p>
        </p:txBody>
      </p:sp>
      <p:pic>
        <p:nvPicPr>
          <p:cNvPr id="18" name="eq_slab_char" descr="slab_ch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3593592"/>
            <a:ext cx="2548852" cy="80208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553048" y="448056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模态权重</a:t>
            </a:r>
            <a:endParaRPr lang="en-US" sz="1300" dirty="0"/>
          </a:p>
        </p:txBody>
      </p:sp>
      <p:pic>
        <p:nvPicPr>
          <p:cNvPr id="20" name="eq_slab_A" descr="slab_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4828032"/>
            <a:ext cx="3035554" cy="73886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Brownstein &amp; Tarr (1979)；Carslaw &amp; Jaeger (1959)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快扩散极限：κ ≪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圆盘：</a:t>
            </a:r>
            <a:endParaRPr lang="en-US" sz="1600" dirty="0"/>
          </a:p>
        </p:txBody>
      </p:sp>
      <p:pic>
        <p:nvPicPr>
          <p:cNvPr id="4" name="eq_fd_disk" descr="fd_di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34440"/>
            <a:ext cx="4275112" cy="7275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狭缝：</a:t>
            </a:r>
            <a:endParaRPr lang="en-US" sz="1600" dirty="0"/>
          </a:p>
        </p:txBody>
      </p:sp>
      <p:pic>
        <p:nvPicPr>
          <p:cNvPr id="6" name="eq_fd_slab" descr="fd_sl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03120"/>
            <a:ext cx="4284040" cy="667436"/>
          </a:xfrm>
          <a:prstGeom prst="rect">
            <a:avLst/>
          </a:prstGeom>
        </p:spPr>
      </p:pic>
      <p:sp>
        <p:nvSpPr>
          <p:cNvPr id="7" name="fd_main_card"/>
          <p:cNvSpPr/>
          <p:nvPr/>
        </p:nvSpPr>
        <p:spPr>
          <a:xfrm>
            <a:off x="548640" y="297180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eq_fd_main" descr="fd_m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715" y="3224828"/>
            <a:ext cx="5380266" cy="8655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由 T2 反算尺寸：</a:t>
            </a:r>
            <a:endParaRPr lang="en-US" sz="1600" dirty="0"/>
          </a:p>
        </p:txBody>
      </p:sp>
      <p:pic>
        <p:nvPicPr>
          <p:cNvPr id="10" name="eq_inverse" descr="inve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526280"/>
            <a:ext cx="4660710" cy="6867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同一 T2：狭缝若按圆盘公式换算会得到 R = 2h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Brownstein &amp; Tarr (1979)；Kleinberg et al. (1994)；Coates et al. (1999)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代入求解：大孔 R = 20 µm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判断扩散区</a:t>
            </a:r>
            <a:endParaRPr lang="en-US" sz="1500" dirty="0"/>
          </a:p>
        </p:txBody>
      </p:sp>
      <p:pic>
        <p:nvPicPr>
          <p:cNvPr id="6" name="eq_b1" descr="b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30269"/>
            <a:ext cx="3526901" cy="593559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1305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03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特征方程求根</a:t>
            </a:r>
            <a:endParaRPr lang="en-US" sz="1500" dirty="0"/>
          </a:p>
        </p:txBody>
      </p:sp>
      <p:pic>
        <p:nvPicPr>
          <p:cNvPr id="10" name="eq_b2" descr="b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17764"/>
            <a:ext cx="5431422" cy="664489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9260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表面弛豫</a:t>
            </a:r>
            <a:endParaRPr lang="en-US" sz="1500" dirty="0"/>
          </a:p>
        </p:txBody>
      </p:sp>
      <p:pic>
        <p:nvPicPr>
          <p:cNvPr id="14" name="eq_b3" descr="b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844664"/>
            <a:ext cx="7876362" cy="656607"/>
          </a:xfrm>
          <a:prstGeom prst="rect">
            <a:avLst/>
          </a:prstGeom>
        </p:spPr>
      </p:pic>
      <p:sp>
        <p:nvSpPr>
          <p:cNvPr id="15" name="badge_4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总弛豫</a:t>
            </a:r>
            <a:endParaRPr lang="en-US" sz="1500" dirty="0"/>
          </a:p>
        </p:txBody>
      </p:sp>
      <p:pic>
        <p:nvPicPr>
          <p:cNvPr id="18" name="eq_b4" descr="b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86651"/>
            <a:ext cx="8534095" cy="618553"/>
          </a:xfrm>
          <a:prstGeom prst="rect">
            <a:avLst/>
          </a:prstGeom>
        </p:spPr>
      </p:pic>
      <p:sp>
        <p:nvSpPr>
          <p:cNvPr id="19" name="badge_5"/>
          <p:cNvSpPr/>
          <p:nvPr/>
        </p:nvSpPr>
        <p:spPr>
          <a:xfrm>
            <a:off x="548640" y="45994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86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097280" y="4572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模态权重</a:t>
            </a:r>
            <a:endParaRPr lang="en-US" sz="1500" dirty="0"/>
          </a:p>
        </p:txBody>
      </p:sp>
      <p:pic>
        <p:nvPicPr>
          <p:cNvPr id="22" name="eq_b5" descr="b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477524"/>
            <a:ext cx="6738783" cy="682728"/>
          </a:xfrm>
          <a:prstGeom prst="rect">
            <a:avLst/>
          </a:prstGeom>
        </p:spPr>
      </p:pic>
      <p:sp>
        <p:nvSpPr>
          <p:cNvPr id="23" name="badge_6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48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1097280" y="5394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快扩散近似</a:t>
            </a:r>
            <a:endParaRPr lang="en-US" sz="1500" dirty="0"/>
          </a:p>
        </p:txBody>
      </p:sp>
      <p:pic>
        <p:nvPicPr>
          <p:cNvPr id="26" name="eq_b6" descr="b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5332571"/>
            <a:ext cx="5720771" cy="6185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代入求解：小孔 R = 5 µm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判断扩散区与求根</a:t>
            </a:r>
            <a:endParaRPr lang="en-US" sz="1500" dirty="0"/>
          </a:p>
        </p:txBody>
      </p:sp>
      <p:pic>
        <p:nvPicPr>
          <p:cNvPr id="6" name="eq_s1" descr="s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13720"/>
            <a:ext cx="4640199" cy="626656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377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表面弛豫</a:t>
            </a:r>
            <a:endParaRPr lang="en-US" sz="1500" dirty="0"/>
          </a:p>
        </p:txBody>
      </p:sp>
      <p:pic>
        <p:nvPicPr>
          <p:cNvPr id="10" name="eq_s2" descr="s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292902"/>
            <a:ext cx="5118938" cy="662851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5021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474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总弛豫</a:t>
            </a:r>
            <a:endParaRPr lang="en-US" sz="1500" dirty="0"/>
          </a:p>
        </p:txBody>
      </p:sp>
      <p:pic>
        <p:nvPicPr>
          <p:cNvPr id="14" name="eq_s3" descr="s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336493"/>
            <a:ext cx="6572771" cy="770230"/>
          </a:xfrm>
          <a:prstGeom prst="rect">
            <a:avLst/>
          </a:prstGeom>
        </p:spPr>
      </p:pic>
      <p:sp>
        <p:nvSpPr>
          <p:cNvPr id="15" name="badge_4"/>
          <p:cNvSpPr/>
          <p:nvPr/>
        </p:nvSpPr>
        <p:spPr>
          <a:xfrm>
            <a:off x="548640" y="45994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572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快扩散近似</a:t>
            </a:r>
            <a:endParaRPr lang="en-US" sz="1500" dirty="0"/>
          </a:p>
        </p:txBody>
      </p:sp>
      <p:pic>
        <p:nvPicPr>
          <p:cNvPr id="18" name="eq_s4" descr="s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487462"/>
            <a:ext cx="6130468" cy="6628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代入求解：喉道 h = 0.05 µm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判断扩散区与求根</a:t>
            </a:r>
            <a:endParaRPr lang="en-US" sz="1500" dirty="0"/>
          </a:p>
        </p:txBody>
      </p:sp>
      <p:pic>
        <p:nvPicPr>
          <p:cNvPr id="6" name="eq_t1" descr="t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13720"/>
            <a:ext cx="5619636" cy="626656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377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表面弛豫</a:t>
            </a:r>
            <a:endParaRPr lang="en-US" sz="1500" dirty="0"/>
          </a:p>
        </p:txBody>
      </p:sp>
      <p:pic>
        <p:nvPicPr>
          <p:cNvPr id="10" name="eq_t2" descr="t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272513"/>
            <a:ext cx="5118938" cy="703631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5021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474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总弛豫</a:t>
            </a:r>
            <a:endParaRPr lang="en-US" sz="1500" dirty="0"/>
          </a:p>
        </p:txBody>
      </p:sp>
      <p:pic>
        <p:nvPicPr>
          <p:cNvPr id="14" name="eq_t3" descr="t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544011"/>
            <a:ext cx="4202722" cy="355194"/>
          </a:xfrm>
          <a:prstGeom prst="rect">
            <a:avLst/>
          </a:prstGeom>
        </p:spPr>
      </p:pic>
      <p:sp>
        <p:nvSpPr>
          <p:cNvPr id="15" name="badge_4"/>
          <p:cNvSpPr/>
          <p:nvPr/>
        </p:nvSpPr>
        <p:spPr>
          <a:xfrm>
            <a:off x="548640" y="45994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572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快扩散近似</a:t>
            </a:r>
            <a:endParaRPr lang="en-US" sz="1500" dirty="0"/>
          </a:p>
        </p:txBody>
      </p:sp>
      <p:pic>
        <p:nvPicPr>
          <p:cNvPr id="18" name="eq_t4" descr="t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487462"/>
            <a:ext cx="5836564" cy="6628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由模拟 T2 反算孔隙尺寸</a:t>
            </a:r>
            <a:endParaRPr lang="en-US" sz="3000" dirty="0"/>
          </a:p>
        </p:txBody>
      </p:sp>
      <p:sp>
        <p:nvSpPr>
          <p:cNvPr id="3" name="inverse_formula_card"/>
          <p:cNvSpPr/>
          <p:nvPr/>
        </p:nvSpPr>
        <p:spPr>
          <a:xfrm>
            <a:off x="548640" y="118872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eq_inv_general" descr="inv_gene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01445"/>
            <a:ext cx="7943355" cy="963270"/>
          </a:xfrm>
          <a:prstGeom prst="rect">
            <a:avLst/>
          </a:prstGeom>
        </p:spPr>
      </p:pic>
      <p:sp>
        <p:nvSpPr>
          <p:cNvPr id="5" name="badge_1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6243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大孔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53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单指数拟合 T2 = 1209.26 ms</a:t>
            </a:r>
            <a:endParaRPr lang="en-US" sz="1200" dirty="0"/>
          </a:p>
        </p:txBody>
      </p:sp>
      <p:pic>
        <p:nvPicPr>
          <p:cNvPr id="9" name="eq_inv_b" descr="inv_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600998"/>
            <a:ext cx="7287501" cy="686740"/>
          </a:xfrm>
          <a:prstGeom prst="rect">
            <a:avLst/>
          </a:prstGeom>
        </p:spPr>
      </p:pic>
      <p:sp>
        <p:nvSpPr>
          <p:cNvPr id="10" name="badge_2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465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小孔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794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单指数拟合 T2 = 429.83 ms</a:t>
            </a:r>
            <a:endParaRPr lang="en-US" sz="1200" dirty="0"/>
          </a:p>
        </p:txBody>
      </p:sp>
      <p:pic>
        <p:nvPicPr>
          <p:cNvPr id="14" name="eq_inv_s" descr="inv_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442246"/>
            <a:ext cx="7141032" cy="686740"/>
          </a:xfrm>
          <a:prstGeom prst="rect">
            <a:avLst/>
          </a:prstGeom>
        </p:spPr>
      </p:pic>
      <p:sp>
        <p:nvSpPr>
          <p:cNvPr id="15" name="badge_3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306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喉道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4636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单指数拟合 T2 = 10.03 ms</a:t>
            </a:r>
            <a:endParaRPr lang="en-US" sz="1200" dirty="0"/>
          </a:p>
        </p:txBody>
      </p:sp>
      <p:pic>
        <p:nvPicPr>
          <p:cNvPr id="19" name="eq_inv_t" descr="inv_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283494"/>
            <a:ext cx="6957644" cy="686740"/>
          </a:xfrm>
          <a:prstGeom prst="rect">
            <a:avLst/>
          </a:prstGeom>
        </p:spPr>
      </p:pic>
      <p:sp>
        <p:nvSpPr>
          <p:cNvPr id="20" name="connected_card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321808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连通链对照（L-curve 反演峰）：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1097 ms → R = 17.3 µm（−14%）；274 ms → R = 3.0 µm（−40%）。孔间扩散耦合与喉道壁弛豫汇使 T2 变短，按孤立孔公式反算会低估孔径。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反算尺寸为何不同：四种 T2 提取方式</a:t>
            </a:r>
            <a:endParaRPr lang="en-US" sz="3000" dirty="0"/>
          </a:p>
        </p:txBody>
      </p:sp>
      <p:graphicFrame>
        <p:nvGraphicFramePr>
          <p:cNvPr id="12" name="route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74520"/>
                <a:gridCol w="2468880"/>
                <a:gridCol w="2468880"/>
                <a:gridCol w="254477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孔隙（真值）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① 直接单指数拟合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② 单独 NNLS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主峰 / T₂lm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③ 合成信号 NNLS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主峰 / T₂lm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④ 连通链 NNLS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主峰 / T₂lm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大孔（20 µm）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20.26（+1.3%）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20.89 / 20.24（+4.5% / +1.2%）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20.89 / 19.88（+4.5% / −0.6%）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17.29 / 17.71（−13.5% / −11.4%）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小孔（5 µm）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5.017（+0.3%）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5.08 / 5.013（+1.7% / +0.3%）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4.16 / 4.19（−16.8% / −16.2%）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3.01 / 2.96（−39.8% / −40.9%）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喉道（0.05 µm）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0.0503（+0.6%）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0.0508 / 0.0505（+1.5% / +1.1%）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未分辨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未分辨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9300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单位 µm；括号内为相对真值偏差。孔体按圆盘 R = 2ρ₂/(1/T2 − 1/T2B)，喉道按狭缝 h = ρ₂/(1/T2 − 1/T2B)。</a:t>
            </a:r>
            <a:endParaRPr lang="en-US" sz="1200" dirty="0"/>
          </a:p>
        </p:txBody>
      </p:sp>
      <p:sp>
        <p:nvSpPr>
          <p:cNvPr id="5" name="route_card_0"/>
          <p:cNvSpPr/>
          <p:nvPr/>
        </p:nvSpPr>
        <p:spPr>
          <a:xfrm>
            <a:off x="548640" y="3931920"/>
            <a:ext cx="256786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069080"/>
            <a:ext cx="2110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① 直接拟合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52628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孤立孔近单指数（A₀ &gt; 0.9999），偏差只来自快扩散近似（大孔 κ/4 ≈ 1.25%）。</a:t>
            </a:r>
            <a:endParaRPr lang="en-US" sz="1300" dirty="0"/>
          </a:p>
        </p:txBody>
      </p:sp>
      <p:sp>
        <p:nvSpPr>
          <p:cNvPr id="8" name="route_card_1"/>
          <p:cNvSpPr/>
          <p:nvPr/>
        </p:nvSpPr>
        <p:spPr>
          <a:xfrm>
            <a:off x="3390824" y="3931920"/>
            <a:ext cx="256786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9424" y="4069080"/>
            <a:ext cx="2110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② 单独 NNLS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619424" y="452628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T₂lm 与直接拟合一致；主峰取 T2 分箱中心（每箱约 2.4%），略偏大。</a:t>
            </a:r>
            <a:endParaRPr lang="en-US" sz="1300" dirty="0"/>
          </a:p>
        </p:txBody>
      </p:sp>
      <p:sp>
        <p:nvSpPr>
          <p:cNvPr id="11" name="route_card_2"/>
          <p:cNvSpPr/>
          <p:nvPr/>
        </p:nvSpPr>
        <p:spPr>
          <a:xfrm>
            <a:off x="6233008" y="3931920"/>
            <a:ext cx="256786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61608" y="4069080"/>
            <a:ext cx="2110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③ 合成信号 NNLS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452628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小孔只占 5.9%、与大孔 T2 仅差 2.8 倍，正则化平滑把小峰推向短 T2：属反演偏差，非物理效应。</a:t>
            </a:r>
            <a:endParaRPr lang="en-US" sz="1300" dirty="0"/>
          </a:p>
        </p:txBody>
      </p:sp>
      <p:sp>
        <p:nvSpPr>
          <p:cNvPr id="14" name="route_card_3"/>
          <p:cNvSpPr/>
          <p:nvPr/>
        </p:nvSpPr>
        <p:spPr>
          <a:xfrm>
            <a:off x="9075191" y="3931920"/>
            <a:ext cx="256786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03791" y="4069080"/>
            <a:ext cx="2110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④ 连通链 NNLS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03791" y="452628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再叠加孔间扩散耦合与喉道壁弛豫汇（小孔区直接拟合 T2 = 312 ms），孔径被明显低估。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汇总：精确解、快扩散近似与数值模拟</a:t>
            </a:r>
            <a:endParaRPr lang="en-US" sz="3000" dirty="0"/>
          </a:p>
        </p:txBody>
      </p:sp>
      <p:graphicFrame>
        <p:nvGraphicFramePr>
          <p:cNvPr id="13" name="summary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1417320"/>
                <a:gridCol w="1143000"/>
                <a:gridCol w="1188720"/>
                <a:gridCol w="1143000"/>
                <a:gridCol w="1188720"/>
                <a:gridCol w="1234440"/>
                <a:gridCol w="121889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孔隙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精确 T₂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(ms)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快扩散 T₂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(ms，偏差)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数值模拟 T₂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单指数拟合 (ms)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反算尺寸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(µm)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数值模拟 T₂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NNLS 主峰 (ms)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反算尺寸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(µm)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数值模拟 T₂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NNLS T₂lm (ms)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反算尺寸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(µm)</a:t>
                      </a: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大孔 R = 20 µm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1208.99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1200.00（−0.74%）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1209.26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20.26（+1.3%）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1231.55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20.89（+4.5%）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1208.73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20.24（+1.2%）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小孔 R = 5 µm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429.72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428.57（−0.27%）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429.83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5.017（+0.3%）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434.70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5.08（+1.7%）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429.51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5.013（+0.3%）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喉道 h = 0.05 µm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9.9672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9.9668（−0.004%）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10.03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0.0503（+0.6%）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10.12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0.0508（+1.5%）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10.07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0.0505（+1.1%）</a:t>
                      </a:r>
                      <a:endParaRPr lang="en-US" sz="13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93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单指数拟合：孤立孔自身回波 ln M 线性拟合（M/M0 = 0.9–0.05）；NNLS：孤立孔自身回波单独做 L-curve NNLS 反演（SNR 1000），T₂lm 为该峰的对数平均。</a:t>
            </a:r>
            <a:endParaRPr lang="en-US" sz="1200" dirty="0"/>
          </a:p>
        </p:txBody>
      </p:sp>
      <p:sp>
        <p:nvSpPr>
          <p:cNvPr id="5" name="stat_card_0"/>
          <p:cNvSpPr/>
          <p:nvPr/>
        </p:nvSpPr>
        <p:spPr>
          <a:xfrm>
            <a:off x="548640" y="3977640"/>
            <a:ext cx="351525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≤ 0.74%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9377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快扩散近似相对精确解的最大偏差（κ ≤ 0.05）</a:t>
            </a:r>
            <a:endParaRPr lang="en-US" sz="1400" dirty="0"/>
          </a:p>
        </p:txBody>
      </p:sp>
      <p:sp>
        <p:nvSpPr>
          <p:cNvPr id="8" name="stat_card_1"/>
          <p:cNvSpPr/>
          <p:nvPr/>
        </p:nvSpPr>
        <p:spPr>
          <a:xfrm>
            <a:off x="4338218" y="3977640"/>
            <a:ext cx="351525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2538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≤ 0.03%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12538" y="49377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孔体：pyGIMLi 数值解相对精确解</a:t>
            </a:r>
            <a:endParaRPr lang="en-US" sz="1400" dirty="0"/>
          </a:p>
        </p:txBody>
      </p:sp>
      <p:sp>
        <p:nvSpPr>
          <p:cNvPr id="11" name="stat_card_2"/>
          <p:cNvSpPr/>
          <p:nvPr/>
        </p:nvSpPr>
        <p:spPr>
          <a:xfrm>
            <a:off x="8127797" y="3977640"/>
            <a:ext cx="351525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02117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0.6%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402117" y="49377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喉道：主要来自隐式 Euler 时间步截断（Δt/T2 ≈ 2.5%）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适用边界</a:t>
            </a:r>
            <a:endParaRPr lang="en-US" sz="3000" dirty="0"/>
          </a:p>
        </p:txBody>
      </p:sp>
      <p:sp>
        <p:nvSpPr>
          <p:cNvPr id="3" name="limit_card_0"/>
          <p:cNvSpPr/>
          <p:nvPr/>
        </p:nvSpPr>
        <p:spPr>
          <a:xfrm>
            <a:off x="548640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孤立孔解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连通体系中喉道的扩散交换与喉道壁“弛豫汇”会缩短小孔 T2（模拟中 430 → 312 ms），不能直接套用孤立孔公式换算尺寸。</a:t>
            </a:r>
            <a:endParaRPr lang="en-US" sz="1600" dirty="0"/>
          </a:p>
        </p:txBody>
      </p:sp>
      <p:sp>
        <p:nvSpPr>
          <p:cNvPr id="8" name="limit_card_1"/>
          <p:cNvSpPr/>
          <p:nvPr/>
        </p:nvSpPr>
        <p:spPr>
          <a:xfrm>
            <a:off x="4338218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2"/>
          <p:cNvSpPr/>
          <p:nvPr/>
        </p:nvSpPr>
        <p:spPr>
          <a:xfrm>
            <a:off x="4658258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2618" y="1645920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二维 vs 三维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23774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二维圆盘 = 无限长圆柱，S/V = 2/R；三维球形孔 S/V = 3/R，换算系数不同。</a:t>
            </a:r>
            <a:endParaRPr lang="en-US" sz="1600" dirty="0"/>
          </a:p>
        </p:txBody>
      </p:sp>
      <p:sp>
        <p:nvSpPr>
          <p:cNvPr id="13" name="limit_card_2"/>
          <p:cNvSpPr/>
          <p:nvPr/>
        </p:nvSpPr>
        <p:spPr>
          <a:xfrm>
            <a:off x="8127797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3"/>
          <p:cNvSpPr/>
          <p:nvPr/>
        </p:nvSpPr>
        <p:spPr>
          <a:xfrm>
            <a:off x="8447837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7837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42197" y="1645920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快扩散判据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23774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κ = ρ₂a/D ≪ 1；本例 κ ≤ 0.05，快扩散近似误差 &lt; 1%。</a:t>
            </a:r>
            <a:endParaRPr lang="en-US" sz="1600" dirty="0"/>
          </a:p>
        </p:txBody>
      </p:sp>
      <p:sp>
        <p:nvSpPr>
          <p:cNvPr id="18" name="fd_error_card"/>
          <p:cNvSpPr/>
          <p:nvPr/>
        </p:nvSpPr>
        <p:spPr>
          <a:xfrm>
            <a:off x="548640" y="452628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61772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反算误差的来源：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孤立孔反算偏差 ≤ 1.3%，大孔的 +1.3% 即快扩散近似自身误差（κ/4 ≈ 1.25%）；如需更高精度，可改用精确特征方程或一阶修正 (1 − κ/4)。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参考文献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Brownstein, K. R., &amp; Tarr, C. E. (1979). Importance of classical diffusion in NMR studies of water in biological cells.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Physical Review 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19(6), 2446–2453. https://doi.org/10.1103/PhysRevA.19.2446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Carslaw, H. S., &amp; Jaeger, J. C. (1959).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Conduction of heat in solids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(2nd ed.). Oxford, UK: Clarendon Press.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Coates, G. R., Xiao, L., &amp; Prammer, M. G. (1999).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NMR logging: Principles and applications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 Houston, TX: Halliburton Energy Services.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Grebenkov, D. S. (2007). NMR survey of reflected Brownian motion.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Reviews of Modern Physics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79(3), 1077–1137. https://doi.org/10.1103/RevModPhys.79.1077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Kleinberg, R. L., Kenyon, W. E., &amp; Mitra, P. P. (1994). Mechanism of NMR relaxation of fluids in rock.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Journal of Magnetic Resonance, Series 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108(2), 206–214. https://doi.org/10.1006/jmra.1994.1112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Senturia, S. D., &amp; Robinson, J. D. (1970). Nuclear spin-lattice relaxation of liquids confined in porous solids.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Society of Petroleum Engineers Journal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10(3), 237–244. https://doi.org/10.2118/2870-PA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Torrey, H. C. (1956). Bloch equations with diffusion terms.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Physical Review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104(3), 563–565. https://doi.org/10.1103/PhysRev.104.563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Zhou, &amp; Zhang (2025). How does pore structure affect the NMR relaxation in unsaturated porous media.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Water Resources Research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.（作者全名、卷期与 DOI 待核对）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MR Porous Media">
  <a:themeElements>
    <a:clrScheme name="NMR Porous Media">
      <a:dk1>
        <a:srgbClr val="1A1A1A"/>
      </a:dk1>
      <a:lt1>
        <a:srgbClr val="FFFFFF"/>
      </a:lt1>
      <a:dk2>
        <a:srgbClr val="16384F"/>
      </a:dk2>
      <a:lt2>
        <a:srgbClr val="EEF3F6"/>
      </a:lt2>
      <a:accent1>
        <a:srgbClr val="2C6E8F"/>
      </a:accent1>
      <a:accent2>
        <a:srgbClr val="D9895B"/>
      </a:accent2>
      <a:accent3>
        <a:srgbClr val="8FB0CC"/>
      </a:accent3>
      <a:accent4>
        <a:srgbClr val="5B8C5A"/>
      </a:accent4>
      <a:accent5>
        <a:srgbClr val="A23B3B"/>
      </a:accent5>
      <a:accent6>
        <a:srgbClr val="6B6B6B"/>
      </a:accent6>
      <a:hlink>
        <a:srgbClr val="2C6E8F"/>
      </a:hlink>
      <a:folHlink>
        <a:srgbClr val="6B6B6B"/>
      </a:folHlink>
    </a:clrScheme>
    <a:fontScheme name="NMR Porous Medi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理想二维孔隙 NMR T2 解析解与快扩散近似</dc:title>
  <dc:subject>PptxGenJS Presentation</dc:subject>
  <dc:creator>PptxGenJS</dc:creator>
  <cp:lastModifiedBy>PptxGenJS</cp:lastModifiedBy>
  <cp:revision>1</cp:revision>
  <dcterms:created xsi:type="dcterms:W3CDTF">2026-10-12T14:34:00Z</dcterms:created>
  <dcterms:modified xsi:type="dcterms:W3CDTF">2026-10-12T14:34:00Z</dcterms:modified>
</cp:coreProperties>
</file>