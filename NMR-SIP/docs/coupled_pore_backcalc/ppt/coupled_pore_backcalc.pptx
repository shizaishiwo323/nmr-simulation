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引言" id="{24da7711-b19f-953a-1b9a-f5efd5c9216b}">
          <p14:sldIdLst>
            <p14:sldId id="256"/>
            <p14:sldId id="257"/>
          </p14:sldIdLst>
        </p14:section>
        <p14:section name="模型与基准" id="{41793e96-c6ea-f902-5684-44b9dd1817b1}">
          <p14:sldIdLst>
            <p14:sldId id="258"/>
            <p14:sldId id="259"/>
          </p14:sldIdLst>
        </p14:section>
        <p14:section name="耦合模型" id="{9e184ec2-51f7-2e15-5e6a-e719b43b3a60}">
          <p14:sldIdLst>
            <p14:sldId id="260"/>
            <p14:sldId id="261"/>
            <p14:sldId id="262"/>
            <p14:sldId id="263"/>
            <p14:sldId id="264"/>
          </p14:sldIdLst>
        </p14:section>
        <p14:section name="分区判据" id="{785de4e2-6f85-80fc-70b9-4461901c5079}">
          <p14:sldIdLst>
            <p14:sldId id="265"/>
            <p14:sldId id="266"/>
            <p14:sldId id="267"/>
          </p14:sldIdLst>
        </p14:section>
        <p14:section name="代入求解" id="{8b3b9902-671f-b809-5e37-d487f77dd6d6}">
          <p14:sldIdLst>
            <p14:sldId id="268"/>
            <p14:sldId id="269"/>
            <p14:sldId id="270"/>
            <p14:sldId id="271"/>
          </p14:sldIdLst>
        </p14:section>
        <p14:section name="反算" id="{cac39a83-13db-3403-c064-ef4ffcc174ee}">
          <p14:sldIdLst>
            <p14:sldId id="272"/>
            <p14:sldId id="273"/>
            <p14:sldId id="274"/>
            <p14:sldId id="275"/>
            <p14:sldId id="276"/>
          </p14:sldIdLst>
        </p14:section>
        <p14:section name="总结" id="{dff26390-b593-5b9e-2cef-076d31ff6646}">
          <p14:sldIdLst>
            <p14:sldId id="277"/>
            <p14:sldId id="278"/>
          </p14:sldIdLst>
        </p14:section>
        <p14:section name="参考文献" id="{31aa5a06-cc47-0113-f70b-62f015782ad0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本报告回答三个问题：大小孔扩散耦合时如何由 T2 谱反算孔径；为什么有的算例两个峰、有的一个峰；为什么有时小孔被忽略。基准是 20 个二维理想算例的 NNLS 反演结果。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三个问题对应三部分：分区判据、反算方法、以及小孔被忽略的物理和测量原因。每张卡片下方是本报告给出的结论。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几何是闭合的大孔–喉道–小孔体系。喉宽 5 个、喉长 4 个，共 20 个算例。NNLS 用 L-curve 选正则化参数，SNR 1000。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这是前一阶段的基准图：行是喉宽，列是喉长。窄长喉道下两峰分离但小孔峰偏小；短宽喉道下只剩一个峰。下面用耦合模型解释这些现象并给出反算方法。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两个孔各用一个均匀浓度节点表示，喉道用截面平均的一维扩散–弛豫方程表示，喉道两端浓度等于两孔浓度。对 e 的负 λt 模态，喉道剖面是双曲正弦组合，由此得到流入喉道的通量。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把通量代入节点方程，非零解要求一个 2×2 行列式为零。乘以 S² 后方程没有极点，便于数值求根。λ 大于喉道弛豫速率时 q 变为虚数，对应喉道内部模态。这个模型没有拟合参数，20 个算例的衰减与全二维有限元模拟最大偏差 0.65%。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利用 coth 减 csch 等于 tanh(x/2)，喉道通量拆成交换项 G_x 和汇项 G_s。于是问题化为经典两点交换模型，只是两孔的弛豫速率各加上汇项。短喉道时交换导纳就是 Dw/L；长喉道时两孔解耦，但喉道仍是弛豫汇。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两点交换的本征速率和快模态权重都有闭式解。权重公式来自初始斜率：交换不改变总磁化，所以初始衰减速率等于面积加权的弛豫速率。Ψ 只用几何和孤立孔速率；Ψ_eff 计入喉道衰减和汇；η 是小孔模态保留下来的信号比例。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慢交换时两个峰对应两个孔，权重就是面积分数。快交换时主峰位于平均速率，快模态的 T2 由交换速率决定，不再反映小孔尺寸，权重随 Ψ_eff 的平方迅速消失。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左图是 w–L 分区图，中图是 η 对 Ψ_eff，右图是模态 T2。TL 模型的点都落在两点交换的普适曲线上。η 大于 0.8 为区 I，0.1 到 0.8 为区 II，小于 0.1 为区 III，分别对应 4、8、8 个算例。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原图把第二峰面积大于 2% 作为双峰判据，相当于在 η 约 0.34 处设了门槛。实际上小孔模态从未消失，只是连续衰减。图例已改为每个符号都对应图中实际绘制的点，左图改为两类离散色块。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左图是 5 个代表算例的全二维模拟衰减与 TL 模型，没有拟合参数也几乎重合。中图和右图是快模态 T2 与权重对 NNLS 小峰的对比。区 III 的小峰权重已在噪声底附近，NNLS 给出的值偏离模型。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C3 位于区 II。先算两孔的面积、扣除喉口后的孔壁长度和弛豫速率；再算喉道弛豫速率、q 和 qL；然后是交换导纳和汇导纳；最后得到带汇的有效速率和交换速率。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有效交换数 0.614，属区 II。两点交换闭式解给出快、慢模态 T2，快模态权重约 0.022，保留比 0.37。TL 精确根和 NNLS 的小峰都与手算接近。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五个代表算例横跨三个分区。手算的准静态解、TL 精确根和 NNLS 小峰在区 I、II 基本一致；区 III 的快模态权重已低于 0.5%，NNLS 给出的值受噪声底影响。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C5 的有效交换数约 28，快模态权重只有 5.5 乘 10 的负 5 次方。它的 T2 约 23 ms，由交换速率决定。如果把这个峰当作孔隙峰换算，会得到一个 0.16 µm 的伪孔，而真实小孔是 5 µm。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四条路线：A 直接用孤立孔公式；B 用两个峰的振幅比，振幅反映面积分数，对汇不敏感，适合区 I；C 不知道喉道时用两点交换反演，但交换与汇无法区分；D 已知喉道几何时用 TL 模型反演，区 I 到 II 都可用。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左图是五个代表算例各路线的反算结果。路线 D 以精确模态作输入时五个算例全部恢复 5 和 20 µm，说明剩余误差来自 NNLS 正则化偏差，不是模型本身。区 III 中 C4 的 0.4% 交换模态仍给出近似值（5.5 / 18.0 µm，误差约 10%），C5 已在噪声中，反算失败。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 A 直接换算 C3 的两个峰：小孔 2.31 µm、大孔 17.04 µm，都偏小。路线 B 用 C1 的小峰分数 0.0495 和主峰尺寸，得到小孔 4.28 µm。区 III 的 C5 主峰只能换算出等效半径 17.9 µm，接近两孔合并后的 17.0 µm。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区 III 中主峰速率趋于面积加权平均速率，按孤立孔公式换算得到的是合并后的等效半径。这是一条曲线，曲线上任何组合都给出几乎相同的单峰谱，所以单靠 T2 不能分离两种孔。要恢复小孔，需要喉道几何、CT 体积分配或 T2–T2 交换谱等额外约束。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SNR 100 下区 III 的小峰全部消失；区 I、II 的小峰保留但分数降到 1–2%，位置被正则化拉到 58–143 ms，即使路线 D 也只能给出 1.9–2.4 µm。所以小孔被忽略有两层原因：物理上快交换并入主峰，测量上低 SNR 抹掉残余小峰。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反算流程分五步：NNLS 反演并识别有效峰；只有一个峰时报告等效半径并说明小孔可能被隐藏；两个峰时先用振幅比得初值，再按分区选择路线；用反算结果正演 TL 模型做自洽检验；最后确认 SNR 足够。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四点适用边界：二维与三维的几何因子不同；快扩散假设；准静态约化的条件；分区阈值依赖小孔占比。扩散耦合的思想与 Ramakrishnan et al. (1999)、Anand &amp; Hirasaki (2007) 的微–宏孔耦合分析一致。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参考文献按 AGU/GRL 作者–年份格式。Fleury &amp; Soualem (2009) 的卷期页码与 Zhou &amp; Zhang (2025) 的作者全名、卷期、DOI 需按原文核对。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722376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72237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耦合大小孔 NMR T2 的孔径反算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7223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耦合大小孔体系中 NMR T</a:t>
            </a:r>
            <a:pPr algn="l" indent="0" marL="0">
              <a:buNone/>
            </a:pPr>
            <a:r>
              <a:rPr lang="en-US" sz="3400" b="1" baseline="-40000" dirty="0">
                <a:solidFill>
                  <a:schemeClr val="bg1"/>
                </a:solidFill>
              </a:rPr>
              <a:t>2</a:t>
            </a:r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 的孔径反算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分区判据、孔–喉–孔耦合模型与反算流程（20 个二维理想算例）</a:t>
            </a:r>
            <a:endParaRPr lang="en-US" sz="1800" dirty="0"/>
          </a:p>
        </p:txBody>
      </p:sp>
      <p:sp>
        <p:nvSpPr>
          <p:cNvPr id="4" name="motif_throat"/>
          <p:cNvSpPr/>
          <p:nvPr/>
        </p:nvSpPr>
        <p:spPr>
          <a:xfrm>
            <a:off x="8229600" y="3429000"/>
            <a:ext cx="32918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5" name="motif_big_pore"/>
          <p:cNvSpPr/>
          <p:nvPr/>
        </p:nvSpPr>
        <p:spPr>
          <a:xfrm>
            <a:off x="8001000" y="2240280"/>
            <a:ext cx="2377440" cy="23774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6" name="motif_small_pore"/>
          <p:cNvSpPr/>
          <p:nvPr/>
        </p:nvSpPr>
        <p:spPr>
          <a:xfrm>
            <a:off x="10972800" y="3127248"/>
            <a:ext cx="603504" cy="60350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三个问题与结论</a:t>
            </a:r>
            <a:endParaRPr lang="en-US" sz="3000" dirty="0"/>
          </a:p>
        </p:txBody>
      </p:sp>
      <p:sp>
        <p:nvSpPr>
          <p:cNvPr id="3" name="question_card_0"/>
          <p:cNvSpPr/>
          <p:nvPr/>
        </p:nvSpPr>
        <p:spPr>
          <a:xfrm>
            <a:off x="548640" y="1280160"/>
            <a:ext cx="3515258" cy="448056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_1"/>
          <p:cNvSpPr/>
          <p:nvPr/>
        </p:nvSpPr>
        <p:spPr>
          <a:xfrm>
            <a:off x="868680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如何反算原始孔径？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5468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两峰时：振幅比（区 I）或已知喉道的耦合模型反演（区 I–II），可恢复 r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≈ 4.6–4.8 µm、r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B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≈ 19.6–20.1 µm（真值 5 / 20）。</a:t>
            </a:r>
            <a:endParaRPr lang="en-US" sz="1700" dirty="0"/>
          </a:p>
        </p:txBody>
      </p:sp>
      <p:sp>
        <p:nvSpPr>
          <p:cNvPr id="8" name="question_card_1"/>
          <p:cNvSpPr/>
          <p:nvPr/>
        </p:nvSpPr>
        <p:spPr>
          <a:xfrm>
            <a:off x="4338218" y="1280160"/>
            <a:ext cx="3515258" cy="448056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_2"/>
          <p:cNvSpPr/>
          <p:nvPr/>
        </p:nvSpPr>
        <p:spPr>
          <a:xfrm>
            <a:off x="4658258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5825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58258" y="219456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为什么有时两峰、有时一峰？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58258" y="315468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由有效交换数 Ψ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eff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决定：小孔模态保留比 η = A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f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/p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随 Ψ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eff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增大而连续下降（快交换时 ∝ Ψ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eff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⁻²），分为区 I / II / III。</a:t>
            </a:r>
            <a:endParaRPr lang="en-US" sz="1700" dirty="0"/>
          </a:p>
        </p:txBody>
      </p:sp>
      <p:sp>
        <p:nvSpPr>
          <p:cNvPr id="13" name="question_card_2"/>
          <p:cNvSpPr/>
          <p:nvPr/>
        </p:nvSpPr>
        <p:spPr>
          <a:xfrm>
            <a:off x="8127797" y="1280160"/>
            <a:ext cx="3515258" cy="448056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_3"/>
          <p:cNvSpPr/>
          <p:nvPr/>
        </p:nvSpPr>
        <p:spPr>
          <a:xfrm>
            <a:off x="8447837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47837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447837" y="219456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为什么小孔会被忽略？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47837" y="315468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快交换把小孔信号并入主峰，主峰只给出等效半径 R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eff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= (r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B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² + r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²)/(r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B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+ r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)；低 SNR 的正则化再抹掉残余小峰。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几何、参数与 20 个算例</a:t>
            </a:r>
            <a:endParaRPr lang="en-US" sz="3000" dirty="0"/>
          </a:p>
        </p:txBody>
      </p:sp>
      <p:sp>
        <p:nvSpPr>
          <p:cNvPr id="3" name="geometry_card"/>
          <p:cNvSpPr/>
          <p:nvPr/>
        </p:nvSpPr>
        <p:spPr>
          <a:xfrm>
            <a:off x="548640" y="1234440"/>
            <a:ext cx="539496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hroat"/>
          <p:cNvSpPr/>
          <p:nvPr/>
        </p:nvSpPr>
        <p:spPr>
          <a:xfrm>
            <a:off x="2136648" y="3041904"/>
            <a:ext cx="2662733" cy="10972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big_pore"/>
          <p:cNvSpPr/>
          <p:nvPr/>
        </p:nvSpPr>
        <p:spPr>
          <a:xfrm>
            <a:off x="868680" y="1828800"/>
            <a:ext cx="2535936" cy="253593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mall_pore"/>
          <p:cNvSpPr/>
          <p:nvPr/>
        </p:nvSpPr>
        <p:spPr>
          <a:xfrm>
            <a:off x="4672584" y="2779776"/>
            <a:ext cx="633984" cy="6339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474464"/>
            <a:ext cx="2535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大孔 B：R = 20 µm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165397" y="3522878"/>
            <a:ext cx="16483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小孔 S：R = 5 µm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68014" y="231952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喉道：宽 w、长 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983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闭合单喉道体系，所有固壁以同一 ρ₂ 弛豫；二维（每单位纵深）。示意图喉宽未按比例。</a:t>
            </a:r>
            <a:endParaRPr lang="en-US" sz="1200" dirty="0"/>
          </a:p>
        </p:txBody>
      </p:sp>
      <p:graphicFrame>
        <p:nvGraphicFramePr>
          <p:cNvPr id="4" name="param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234440"/>
          <a:ext cx="537667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377440"/>
                <a:gridCol w="199339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量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取值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说明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2.0 µm²/ms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水的自扩散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ρ₂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0.005 µm/ms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 µm/s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</a:t>
                      </a:r>
                      <a:pPr algn="l" indent="0" marL="0">
                        <a:buNone/>
                      </a:pPr>
                      <a:r>
                        <a:rPr lang="en-US" sz="1300" baseline="-40000" dirty="0">
                          <a:solidFill>
                            <a:schemeClr val="tx1"/>
                          </a:solidFill>
                        </a:rPr>
                        <a:t>2B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3000 ms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体弛豫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</a:t>
                      </a:r>
                      <a:pPr algn="l" indent="0" marL="0">
                        <a:buNone/>
                      </a:pPr>
                      <a:r>
                        <a:rPr lang="en-US" sz="1300" baseline="-4000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0.0588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小孔面积分数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0.1, 0.5, 1, 2, 4 µm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喉宽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2, 5, 15, 30 µm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喉长（壁到壁）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NNLS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L-curve，SNR 1000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200 箱，1–10⁵ ms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参数与 Auto_NMR.py 默认值一致（Zhou &amp; Zhang, 2025）；数值解：pyGIMLi 隐式 Euler 有限元，Δt = 0.25 ms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基准：20 个算例的 NNLS 结果</a:t>
            </a:r>
            <a:endParaRPr lang="en-US" sz="3000" dirty="0"/>
          </a:p>
        </p:txBody>
      </p:sp>
      <p:pic>
        <p:nvPicPr>
          <p:cNvPr id="3" name="fig_sweep_overlay_grid" descr="NNLS baseline gr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5120640" cy="4899250"/>
          </a:xfrm>
          <a:prstGeom prst="rect">
            <a:avLst/>
          </a:prstGeom>
        </p:spPr>
      </p:pic>
      <p:sp>
        <p:nvSpPr>
          <p:cNvPr id="4" name="obs_card_0"/>
          <p:cNvSpPr/>
          <p:nvPr/>
        </p:nvSpPr>
        <p:spPr>
          <a:xfrm>
            <a:off x="6035040" y="1325880"/>
            <a:ext cx="560527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0936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长而窄的喉道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98424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两个峰分别靠近两孔，但小孔峰偏左（偏小）。</a:t>
            </a:r>
            <a:endParaRPr lang="en-US" sz="1500" dirty="0"/>
          </a:p>
        </p:txBody>
      </p:sp>
      <p:sp>
        <p:nvSpPr>
          <p:cNvPr id="7" name="obs_card_1"/>
          <p:cNvSpPr/>
          <p:nvPr/>
        </p:nvSpPr>
        <p:spPr>
          <a:xfrm>
            <a:off x="6035040" y="2880360"/>
            <a:ext cx="560527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3063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短而宽的喉道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35387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只见一个主峰，位于两孔之间的等效尺寸。</a:t>
            </a:r>
            <a:endParaRPr lang="en-US" sz="1500" dirty="0"/>
          </a:p>
        </p:txBody>
      </p:sp>
      <p:sp>
        <p:nvSpPr>
          <p:cNvPr id="10" name="obs_card_2"/>
          <p:cNvSpPr/>
          <p:nvPr/>
        </p:nvSpPr>
        <p:spPr>
          <a:xfrm>
            <a:off x="6035040" y="4434840"/>
            <a:ext cx="560527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4617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关键问题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50932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小孔信号去哪了？峰位还能换算成孔径吗？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孔–喉–孔一维耦合模型</a:t>
            </a:r>
            <a:endParaRPr lang="en-US" sz="3000" dirty="0"/>
          </a:p>
        </p:txBody>
      </p:sp>
      <p:sp>
        <p:nvSpPr>
          <p:cNvPr id="3" name="badge_1"/>
          <p:cNvSpPr/>
          <p:nvPr/>
        </p:nvSpPr>
        <p:spPr>
          <a:xfrm>
            <a:off x="548640" y="1435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898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孔体节点</a:t>
            </a:r>
            <a:endParaRPr lang="en-US" sz="1500" dirty="0"/>
          </a:p>
        </p:txBody>
      </p:sp>
      <p:pic>
        <p:nvPicPr>
          <p:cNvPr id="6" name="eq_node" descr="n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1339912"/>
            <a:ext cx="5427368" cy="575440"/>
          </a:xfrm>
          <a:prstGeom prst="rect">
            <a:avLst/>
          </a:prstGeom>
        </p:spPr>
      </p:pic>
      <p:sp>
        <p:nvSpPr>
          <p:cNvPr id="7" name="badge_2"/>
          <p:cNvSpPr/>
          <p:nvPr/>
        </p:nvSpPr>
        <p:spPr>
          <a:xfrm>
            <a:off x="548640" y="26700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62432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一维喉道</a:t>
            </a:r>
            <a:endParaRPr lang="en-US" sz="1500" dirty="0"/>
          </a:p>
        </p:txBody>
      </p:sp>
      <p:pic>
        <p:nvPicPr>
          <p:cNvPr id="10" name="eq_throat" descr="thro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562004"/>
            <a:ext cx="6166013" cy="600137"/>
          </a:xfrm>
          <a:prstGeom prst="rect">
            <a:avLst/>
          </a:prstGeom>
        </p:spPr>
      </p:pic>
      <p:sp>
        <p:nvSpPr>
          <p:cNvPr id="11" name="badge_3"/>
          <p:cNvSpPr/>
          <p:nvPr/>
        </p:nvSpPr>
        <p:spPr>
          <a:xfrm>
            <a:off x="548640" y="39044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38587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本征模</a:t>
            </a:r>
            <a:endParaRPr lang="en-US" sz="1500" dirty="0"/>
          </a:p>
        </p:txBody>
      </p:sp>
      <p:pic>
        <p:nvPicPr>
          <p:cNvPr id="14" name="eq_mode" descr="m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3798502"/>
            <a:ext cx="8762695" cy="596021"/>
          </a:xfrm>
          <a:prstGeom prst="rect">
            <a:avLst/>
          </a:prstGeom>
        </p:spPr>
      </p:pic>
      <p:sp>
        <p:nvSpPr>
          <p:cNvPr id="15" name="assume_card"/>
          <p:cNvSpPr/>
          <p:nvPr/>
        </p:nvSpPr>
        <p:spPr>
          <a:xfrm>
            <a:off x="548640" y="512064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22960" y="52578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假设：孔内快扩散（κ = ρ₂R/D ≤ 0.05）；喉道横向快平衡（h²/D ≪ T₂）；P</a:t>
            </a:r>
            <a:pPr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扣除喉口弧长 2R·arcsin(h/R)。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Brownstein &amp; Tarr (1979)；Carslaw &amp; Jaeger (1959)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特征方程与模态权重（TL 模型）</a:t>
            </a:r>
            <a:endParaRPr lang="en-US" sz="3000" dirty="0"/>
          </a:p>
        </p:txBody>
      </p:sp>
      <p:sp>
        <p:nvSpPr>
          <p:cNvPr id="3" name="char_card"/>
          <p:cNvSpPr/>
          <p:nvPr/>
        </p:nvSpPr>
        <p:spPr>
          <a:xfrm>
            <a:off x="548640" y="1234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eq_char" descr="ch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81493"/>
            <a:ext cx="9996094" cy="8488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均匀初始磁化下的模态权重：</a:t>
            </a:r>
            <a:endParaRPr lang="en-US" sz="1600" dirty="0"/>
          </a:p>
        </p:txBody>
      </p:sp>
      <p:pic>
        <p:nvPicPr>
          <p:cNvPr id="6" name="eq_amp_n" descr="amp_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6520409" cy="829589"/>
          </a:xfrm>
          <a:prstGeom prst="rect">
            <a:avLst/>
          </a:prstGeom>
        </p:spPr>
      </p:pic>
      <p:sp>
        <p:nvSpPr>
          <p:cNvPr id="7" name="stat6_0"/>
          <p:cNvSpPr/>
          <p:nvPr/>
        </p:nvSpPr>
        <p:spPr>
          <a:xfrm>
            <a:off x="548640" y="4160520"/>
            <a:ext cx="5394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68680" y="425196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</a:t>
            </a:r>
            <a:endParaRPr lang="en-US" sz="4400" dirty="0"/>
          </a:p>
        </p:txBody>
      </p:sp>
      <p:sp>
        <p:nvSpPr>
          <p:cNvPr id="9" name="Text 5"/>
          <p:cNvSpPr txBox="1"/>
          <p:nvPr/>
        </p:nvSpPr>
        <p:spPr>
          <a:xfrm>
            <a:off x="1920240" y="44805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拟合参数：只用几何、D、ρ₂、T</a:t>
            </a:r>
            <a:pPr indent="0" marL="0">
              <a:buNone/>
            </a:pPr>
            <a:r>
              <a:rPr lang="en-US" sz="1600" baseline="-40000" dirty="0">
                <a:solidFill>
                  <a:schemeClr val="tx1"/>
                </a:solidFill>
              </a:rPr>
              <a:t>2B</a:t>
            </a:r>
            <a:endParaRPr lang="en-US" sz="1600" dirty="0"/>
          </a:p>
        </p:txBody>
      </p:sp>
      <p:sp>
        <p:nvSpPr>
          <p:cNvPr id="10" name="stat6_1"/>
          <p:cNvSpPr/>
          <p:nvPr/>
        </p:nvSpPr>
        <p:spPr>
          <a:xfrm>
            <a:off x="6217920" y="4160520"/>
            <a:ext cx="5394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537960" y="42519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0.65%</a:t>
            </a:r>
            <a:endParaRPr lang="en-US" sz="4400" dirty="0"/>
          </a:p>
        </p:txBody>
      </p:sp>
      <p:sp>
        <p:nvSpPr>
          <p:cNvPr id="12" name="Text 8"/>
          <p:cNvSpPr txBox="1"/>
          <p:nvPr/>
        </p:nvSpPr>
        <p:spPr>
          <a:xfrm>
            <a:off x="8869680" y="44805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20 个算例中衰减 |ΔM/M₀| 的最大偏差（相对全二维有限元）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准静态约化：带“汇”的两点交换</a:t>
            </a:r>
            <a:endParaRPr lang="en-US" sz="3000" dirty="0"/>
          </a:p>
        </p:txBody>
      </p:sp>
      <p:pic>
        <p:nvPicPr>
          <p:cNvPr id="3" name="eq_gx" descr="g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245998" cy="682879"/>
          </a:xfrm>
          <a:prstGeom prst="rect">
            <a:avLst/>
          </a:prstGeom>
        </p:spPr>
      </p:pic>
      <p:pic>
        <p:nvPicPr>
          <p:cNvPr id="4" name="eq_twosite" descr="twosi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8275142" cy="721246"/>
          </a:xfrm>
          <a:prstGeom prst="rect">
            <a:avLst/>
          </a:prstGeom>
        </p:spPr>
      </p:pic>
      <p:sp>
        <p:nvSpPr>
          <p:cNvPr id="5" name="limit7_0"/>
          <p:cNvSpPr/>
          <p:nvPr/>
        </p:nvSpPr>
        <p:spPr>
          <a:xfrm>
            <a:off x="548640" y="3429000"/>
            <a:ext cx="53949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3611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短喉道 qL ≪ 1</a:t>
            </a:r>
            <a:endParaRPr lang="en-US" sz="1800" dirty="0"/>
          </a:p>
        </p:txBody>
      </p:sp>
      <p:pic>
        <p:nvPicPr>
          <p:cNvPr id="7" name="eq_lim_small" descr="lim_sma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60520"/>
            <a:ext cx="4541025" cy="636067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22960" y="4892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交换导纳 = Dw/L；喉道体积的弛豫平分给两孔</a:t>
            </a:r>
            <a:endParaRPr lang="en-US" sz="1400" dirty="0"/>
          </a:p>
        </p:txBody>
      </p:sp>
      <p:sp>
        <p:nvSpPr>
          <p:cNvPr id="9" name="limit7_1"/>
          <p:cNvSpPr/>
          <p:nvPr/>
        </p:nvSpPr>
        <p:spPr>
          <a:xfrm>
            <a:off x="6217920" y="3429000"/>
            <a:ext cx="53949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492240" y="3611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长喉道 qL ≫ 1</a:t>
            </a:r>
            <a:endParaRPr lang="en-US" sz="1800" dirty="0"/>
          </a:p>
        </p:txBody>
      </p:sp>
      <p:pic>
        <p:nvPicPr>
          <p:cNvPr id="11" name="eq_lim_large" descr="lim_lar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160520"/>
            <a:ext cx="4846320" cy="36686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492240" y="4892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两孔解耦，但喉道成为半无限“汇”，仍使小孔 T₂ 变短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coth x − csch x = tanh(x/2)；Zimmerman &amp; Brittin (1957)；McDonald et al. (2005)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两点交换闭式解与无量纲数</a:t>
            </a:r>
            <a:endParaRPr lang="en-US" sz="3000" dirty="0"/>
          </a:p>
        </p:txBody>
      </p:sp>
      <p:sp>
        <p:nvSpPr>
          <p:cNvPr id="3" name="cf_card_0"/>
          <p:cNvSpPr/>
          <p:nvPr/>
        </p:nvSpPr>
        <p:spPr>
          <a:xfrm>
            <a:off x="548640" y="132588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本征速率</a:t>
            </a:r>
            <a:endParaRPr lang="en-US" sz="1700" dirty="0"/>
          </a:p>
        </p:txBody>
      </p:sp>
      <p:pic>
        <p:nvPicPr>
          <p:cNvPr id="5" name="eq_lam" descr="l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1546892"/>
            <a:ext cx="7455446" cy="700977"/>
          </a:xfrm>
          <a:prstGeom prst="rect">
            <a:avLst/>
          </a:prstGeom>
        </p:spPr>
      </p:pic>
      <p:sp>
        <p:nvSpPr>
          <p:cNvPr id="6" name="cf_card_1"/>
          <p:cNvSpPr/>
          <p:nvPr/>
        </p:nvSpPr>
        <p:spPr>
          <a:xfrm>
            <a:off x="548640" y="265176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快模态权重</a:t>
            </a:r>
            <a:endParaRPr lang="en-US" sz="1700" dirty="0"/>
          </a:p>
        </p:txBody>
      </p:sp>
      <p:pic>
        <p:nvPicPr>
          <p:cNvPr id="8" name="eq_ampf" descr="amp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854312"/>
            <a:ext cx="6209373" cy="737895"/>
          </a:xfrm>
          <a:prstGeom prst="rect">
            <a:avLst/>
          </a:prstGeom>
        </p:spPr>
      </p:pic>
      <p:sp>
        <p:nvSpPr>
          <p:cNvPr id="9" name="cf_card_2"/>
          <p:cNvSpPr/>
          <p:nvPr/>
        </p:nvSpPr>
        <p:spPr>
          <a:xfrm>
            <a:off x="548640" y="39776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4297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无量纲数</a:t>
            </a:r>
            <a:endParaRPr lang="en-US" sz="1700" dirty="0"/>
          </a:p>
        </p:txBody>
      </p:sp>
      <p:pic>
        <p:nvPicPr>
          <p:cNvPr id="11" name="eq_dimless" descr="dimle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4187793"/>
            <a:ext cx="5911367" cy="7226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快模态权重来自初始斜率：−ṡ(0) = A</a:t>
            </a:r>
            <a:pPr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λ</a:t>
            </a:r>
            <a:pPr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+ A</a:t>
            </a:r>
            <a:pPr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λ</a:t>
            </a:r>
            <a:pPr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= p</a:t>
            </a:r>
            <a:pPr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R′</a:t>
            </a:r>
            <a:pPr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+ p</a:t>
            </a:r>
            <a:pPr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R′</a:t>
            </a:r>
            <a:pPr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（细致平衡 p</a:t>
            </a:r>
            <a:pPr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k</a:t>
            </a:r>
            <a:pPr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= p</a:t>
            </a:r>
            <a:pPr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k</a:t>
            </a:r>
            <a:pPr indent="0" marL="0">
              <a:buNone/>
            </a:pPr>
            <a:r>
              <a:rPr lang="en-US" sz="1400" baseline="-40000" dirty="0">
                <a:solidFill>
                  <a:schemeClr val="tx1"/>
                </a:solidFill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使交换项相消）。η 为小孔信号保留比例。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两个极限：慢交换与快交换</a:t>
            </a:r>
            <a:endParaRPr lang="en-US" sz="3000" dirty="0"/>
          </a:p>
        </p:txBody>
      </p:sp>
      <p:sp>
        <p:nvSpPr>
          <p:cNvPr id="3" name="lim9_0"/>
          <p:cNvSpPr/>
          <p:nvPr/>
        </p:nvSpPr>
        <p:spPr>
          <a:xfrm>
            <a:off x="548640" y="1280160"/>
            <a:ext cx="53949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t9_0"/>
          <p:cNvSpPr/>
          <p:nvPr/>
        </p:nvSpPr>
        <p:spPr>
          <a:xfrm>
            <a:off x="822960" y="155448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463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慢交换 Ψ</a:t>
            </a:r>
            <a:pPr indent="0" marL="0">
              <a:buNone/>
            </a:pPr>
            <a:r>
              <a:rPr lang="en-US" sz="2000" b="1" baseline="-40000" dirty="0">
                <a:solidFill>
                  <a:schemeClr val="tx2"/>
                </a:solidFill>
              </a:rPr>
              <a:t>eff</a:t>
            </a:r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 → 0</a:t>
            </a:r>
            <a:endParaRPr lang="en-US" sz="2000" dirty="0"/>
          </a:p>
        </p:txBody>
      </p:sp>
      <p:pic>
        <p:nvPicPr>
          <p:cNvPr id="6" name="eq_slow" descr="s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40280"/>
            <a:ext cx="4846320" cy="3901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24612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两个峰对应两个孔，权重 = 面积分数；qL ≳ 1 时汇项仍会把小孔峰推向短 T₂。</a:t>
            </a:r>
            <a:endParaRPr lang="en-US" sz="1700" dirty="0"/>
          </a:p>
        </p:txBody>
      </p:sp>
      <p:sp>
        <p:nvSpPr>
          <p:cNvPr id="8" name="lim9_1"/>
          <p:cNvSpPr/>
          <p:nvPr/>
        </p:nvSpPr>
        <p:spPr>
          <a:xfrm>
            <a:off x="6217920" y="1280160"/>
            <a:ext cx="53949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ot9_1"/>
          <p:cNvSpPr/>
          <p:nvPr/>
        </p:nvSpPr>
        <p:spPr>
          <a:xfrm>
            <a:off x="6492240" y="1554480"/>
            <a:ext cx="292608" cy="29260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49440" y="1463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快交换 Ψ</a:t>
            </a:r>
            <a:pPr indent="0" marL="0">
              <a:buNone/>
            </a:pPr>
            <a:r>
              <a:rPr lang="en-US" sz="2000" b="1" baseline="-40000" dirty="0">
                <a:solidFill>
                  <a:schemeClr val="tx2"/>
                </a:solidFill>
              </a:rPr>
              <a:t>eff</a:t>
            </a:r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 ≫ 1</a:t>
            </a:r>
            <a:endParaRPr lang="en-US" sz="2000" dirty="0"/>
          </a:p>
        </p:txBody>
      </p:sp>
      <p:pic>
        <p:nvPicPr>
          <p:cNvPr id="11" name="eq_fast" descr="fa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240280"/>
            <a:ext cx="4846320" cy="68492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92240" y="324612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主峰位于面积加权平均速率；快模态仍存在，但 T₂ ≈ p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B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A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/ G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由交换决定，权重按 Ψ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eff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⁻² 消失。</a:t>
            </a:r>
            <a:endParaRPr lang="en-US" sz="1700" dirty="0"/>
          </a:p>
        </p:txBody>
      </p:sp>
      <p:sp>
        <p:nvSpPr>
          <p:cNvPr id="13" name="limit9_takeaway"/>
          <p:cNvSpPr/>
          <p:nvPr/>
        </p:nvSpPr>
        <p:spPr>
          <a:xfrm>
            <a:off x="548640" y="4937760"/>
            <a:ext cx="11094415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5029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η 随 Ψ</a:t>
            </a:r>
            <a:pPr indent="0" marL="0">
              <a:buNone/>
            </a:pPr>
            <a:r>
              <a:rPr lang="en-US" sz="1700" b="1" baseline="-40000" dirty="0">
                <a:solidFill>
                  <a:schemeClr val="bg1"/>
                </a:solidFill>
              </a:rPr>
              <a:t>eff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 从 1 连续降到 0：两峰与一峰之间没有突变，只有“小峰是否高于探测门槛”的区别。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分区判据：小孔信号保留比 η</a:t>
            </a:r>
            <a:endParaRPr lang="en-US" sz="3000" dirty="0"/>
          </a:p>
        </p:txBody>
      </p:sp>
      <p:pic>
        <p:nvPicPr>
          <p:cNvPr id="3" name="fig_fig1_regimes_and_universal_curves" descr="regime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8220641" cy="3566160"/>
          </a:xfrm>
          <a:prstGeom prst="rect">
            <a:avLst/>
          </a:prstGeom>
        </p:spPr>
      </p:pic>
      <p:sp>
        <p:nvSpPr>
          <p:cNvPr id="4" name="regime_card_I"/>
          <p:cNvSpPr/>
          <p:nvPr/>
        </p:nvSpPr>
        <p:spPr>
          <a:xfrm>
            <a:off x="548640" y="4846320"/>
            <a:ext cx="351525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egime_dot_I"/>
          <p:cNvSpPr/>
          <p:nvPr/>
        </p:nvSpPr>
        <p:spPr>
          <a:xfrm>
            <a:off x="777240" y="500176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4937760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区 I 慢交换：4 个算例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5376672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η &gt; 0.8（Ψ ≲ 0.1）</a:t>
            </a:r>
            <a:endParaRPr lang="en-US" sz="1400" dirty="0"/>
          </a:p>
        </p:txBody>
      </p:sp>
      <p:sp>
        <p:nvSpPr>
          <p:cNvPr id="8" name="regime_card_II"/>
          <p:cNvSpPr/>
          <p:nvPr/>
        </p:nvSpPr>
        <p:spPr>
          <a:xfrm>
            <a:off x="4338218" y="4846320"/>
            <a:ext cx="351525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egime_dot_II"/>
          <p:cNvSpPr/>
          <p:nvPr/>
        </p:nvSpPr>
        <p:spPr>
          <a:xfrm>
            <a:off x="4566818" y="5001768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78298" y="4937760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区 II 过渡：8 个算例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978298" y="5376672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0.1 &lt; η &lt; 0.8</a:t>
            </a:r>
            <a:endParaRPr lang="en-US" sz="1400" dirty="0"/>
          </a:p>
        </p:txBody>
      </p:sp>
      <p:sp>
        <p:nvSpPr>
          <p:cNvPr id="12" name="regime_card_III"/>
          <p:cNvSpPr/>
          <p:nvPr/>
        </p:nvSpPr>
        <p:spPr>
          <a:xfrm>
            <a:off x="8127797" y="4846320"/>
            <a:ext cx="351525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regime_dot_III"/>
          <p:cNvSpPr/>
          <p:nvPr/>
        </p:nvSpPr>
        <p:spPr>
          <a:xfrm>
            <a:off x="8356397" y="5001768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67877" y="4937760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区 III 快交换：8 个算例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767877" y="5376672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η &lt; 0.1（Ψ ≳ 2）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“一个峰”其实是探测门槛（原图图例已修正）</a:t>
            </a:r>
            <a:endParaRPr lang="en-US" sz="3000" dirty="0"/>
          </a:p>
        </p:txBody>
      </p:sp>
      <p:pic>
        <p:nvPicPr>
          <p:cNvPr id="3" name="fig_sweep_coupling_controls" descr="coupling contro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7486941" cy="3291840"/>
          </a:xfrm>
          <a:prstGeom prst="rect">
            <a:avLst/>
          </a:prstGeom>
        </p:spPr>
      </p:pic>
      <p:sp>
        <p:nvSpPr>
          <p:cNvPr id="4" name="threshold_card"/>
          <p:cNvSpPr/>
          <p:nvPr/>
        </p:nvSpPr>
        <p:spPr>
          <a:xfrm>
            <a:off x="548640" y="457200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466344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原判据“第二峰 &gt; 2%”相当于 η ≈ 0.34 的门槛。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NNLS 在所有 20 个算例中都给出了小孔模态（0.04%–5%），位置与 TL 模型一致；它是连续衰减到探测极限以下，而不是突然消失。图例中每个符号都对应图中实际绘制的点。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模型验证：TL 模型 vs 全二维模拟与 NNLS</a:t>
            </a:r>
            <a:endParaRPr lang="en-US" sz="3000" dirty="0"/>
          </a:p>
        </p:txBody>
      </p:sp>
      <p:pic>
        <p:nvPicPr>
          <p:cNvPr id="3" name="fig_fig2_model_validation" descr="valid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8307947" cy="3931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TL 衰减最大偏差 |ΔM/M₀| = 0.0065；NNLS 小峰在区 I、II 与模型一致，在区 III 落入噪声底（≤ 0.5%）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代入求解：C3（w = 1 µm，L = 15 µm）1/2</a:t>
            </a:r>
            <a:endParaRPr lang="en-US" sz="3000" dirty="0"/>
          </a:p>
        </p:txBody>
      </p:sp>
      <p:sp>
        <p:nvSpPr>
          <p:cNvPr id="3" name="badge_1"/>
          <p:cNvSpPr/>
          <p:nvPr/>
        </p:nvSpPr>
        <p:spPr>
          <a:xfrm>
            <a:off x="548640" y="12984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5272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几何与孔体速率</a:t>
            </a:r>
            <a:endParaRPr lang="en-US" sz="1500" dirty="0"/>
          </a:p>
        </p:txBody>
      </p:sp>
      <p:pic>
        <p:nvPicPr>
          <p:cNvPr id="6" name="eq_c3_1" descr="c3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792224"/>
            <a:ext cx="10183679" cy="356137"/>
          </a:xfrm>
          <a:prstGeom prst="rect">
            <a:avLst/>
          </a:prstGeom>
        </p:spPr>
      </p:pic>
      <p:sp>
        <p:nvSpPr>
          <p:cNvPr id="7" name="badge_2"/>
          <p:cNvSpPr/>
          <p:nvPr/>
        </p:nvSpPr>
        <p:spPr>
          <a:xfrm>
            <a:off x="54864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36829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喉道参数</a:t>
            </a:r>
            <a:endParaRPr lang="en-US" sz="1500" dirty="0"/>
          </a:p>
        </p:txBody>
      </p:sp>
      <p:pic>
        <p:nvPicPr>
          <p:cNvPr id="10" name="eq_c3_2" descr="c3_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907792"/>
            <a:ext cx="7780716" cy="555155"/>
          </a:xfrm>
          <a:prstGeom prst="rect">
            <a:avLst/>
          </a:prstGeom>
        </p:spPr>
      </p:pic>
      <p:sp>
        <p:nvSpPr>
          <p:cNvPr id="11" name="badge_3"/>
          <p:cNvSpPr/>
          <p:nvPr/>
        </p:nvSpPr>
        <p:spPr>
          <a:xfrm>
            <a:off x="548640" y="35295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3483864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交换 / 汇导纳</a:t>
            </a:r>
            <a:endParaRPr lang="en-US" sz="1500" dirty="0"/>
          </a:p>
        </p:txBody>
      </p:sp>
      <p:pic>
        <p:nvPicPr>
          <p:cNvPr id="14" name="eq_c3_3" descr="c3_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023360"/>
            <a:ext cx="7334369" cy="565843"/>
          </a:xfrm>
          <a:prstGeom prst="rect">
            <a:avLst/>
          </a:prstGeom>
        </p:spPr>
      </p:pic>
      <p:sp>
        <p:nvSpPr>
          <p:cNvPr id="15" name="badge_4"/>
          <p:cNvSpPr/>
          <p:nvPr/>
        </p:nvSpPr>
        <p:spPr>
          <a:xfrm>
            <a:off x="548640" y="46451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64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097280" y="4599432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有效参数</a:t>
            </a:r>
            <a:endParaRPr lang="en-US" sz="1500" dirty="0"/>
          </a:p>
        </p:txBody>
      </p:sp>
      <p:pic>
        <p:nvPicPr>
          <p:cNvPr id="18" name="eq_c3_4" descr="c3_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5138928"/>
            <a:ext cx="10500055" cy="55515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速率单位 ms⁻¹，导纳单位 µm²/ms；L</a:t>
            </a:r>
            <a:pPr indent="0" marL="0">
              <a:buNone/>
            </a:pPr>
            <a:r>
              <a:rPr lang="en-US" sz="1100" i="1" baseline="-40000" dirty="0">
                <a:solidFill>
                  <a:schemeClr val="accent6"/>
                </a:solidFill>
              </a:rPr>
              <a:t>m</a:t>
            </a:r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 = 15.031 µm 为网格中喉道壁到壁长度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代入求解：C3（w = 1 µm，L = 15 µm）2/2</a:t>
            </a:r>
            <a:endParaRPr lang="en-US" sz="3000" dirty="0"/>
          </a:p>
        </p:txBody>
      </p:sp>
      <p:sp>
        <p:nvSpPr>
          <p:cNvPr id="3" name="badge_1"/>
          <p:cNvSpPr/>
          <p:nvPr/>
        </p:nvSpPr>
        <p:spPr>
          <a:xfrm>
            <a:off x="548640" y="13898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441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有效交换数</a:t>
            </a:r>
            <a:endParaRPr lang="en-US" sz="1500" dirty="0"/>
          </a:p>
        </p:txBody>
      </p:sp>
      <p:pic>
        <p:nvPicPr>
          <p:cNvPr id="6" name="eq_c3_5" descr="c3_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212844"/>
            <a:ext cx="5524322" cy="738137"/>
          </a:xfrm>
          <a:prstGeom prst="rect">
            <a:avLst/>
          </a:prstGeom>
        </p:spPr>
      </p:pic>
      <p:sp>
        <p:nvSpPr>
          <p:cNvPr id="7" name="badge_2"/>
          <p:cNvSpPr/>
          <p:nvPr/>
        </p:nvSpPr>
        <p:spPr>
          <a:xfrm>
            <a:off x="548640" y="24871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4414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本征速率</a:t>
            </a:r>
            <a:endParaRPr lang="en-US" sz="1500" dirty="0"/>
          </a:p>
        </p:txBody>
      </p:sp>
      <p:pic>
        <p:nvPicPr>
          <p:cNvPr id="10" name="eq_c3_6" descr="c3_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345474"/>
            <a:ext cx="8173796" cy="667436"/>
          </a:xfrm>
          <a:prstGeom prst="rect">
            <a:avLst/>
          </a:prstGeom>
        </p:spPr>
      </p:pic>
      <p:sp>
        <p:nvSpPr>
          <p:cNvPr id="11" name="badge_3"/>
          <p:cNvSpPr/>
          <p:nvPr/>
        </p:nvSpPr>
        <p:spPr>
          <a:xfrm>
            <a:off x="548640" y="35844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35387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快模态权重</a:t>
            </a:r>
            <a:endParaRPr lang="en-US" sz="1500" dirty="0"/>
          </a:p>
        </p:txBody>
      </p:sp>
      <p:pic>
        <p:nvPicPr>
          <p:cNvPr id="14" name="eq_c3_7" descr="c3_7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407524"/>
            <a:ext cx="6700901" cy="737895"/>
          </a:xfrm>
          <a:prstGeom prst="rect">
            <a:avLst/>
          </a:prstGeom>
        </p:spPr>
      </p:pic>
      <p:sp>
        <p:nvSpPr>
          <p:cNvPr id="15" name="badge_4"/>
          <p:cNvSpPr/>
          <p:nvPr/>
        </p:nvSpPr>
        <p:spPr>
          <a:xfrm>
            <a:off x="548640" y="468172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640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097280" y="46360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对照</a:t>
            </a:r>
            <a:endParaRPr lang="en-US" sz="1500" dirty="0"/>
          </a:p>
        </p:txBody>
      </p:sp>
      <p:pic>
        <p:nvPicPr>
          <p:cNvPr id="18" name="eq_c3_8" descr="c3_8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682522"/>
            <a:ext cx="7880858" cy="38246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手算与 TL 精确根的差别来自准静态近似中 q 取 λ = 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五个代表算例：手算、精确根与 NNLS</a:t>
            </a:r>
            <a:endParaRPr lang="en-US" sz="3000" dirty="0"/>
          </a:p>
        </p:txBody>
      </p:sp>
      <p:graphicFrame>
        <p:nvGraphicFramePr>
          <p:cNvPr id="16" name="rep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1737360"/>
                <a:gridCol w="1737360"/>
                <a:gridCol w="1737360"/>
                <a:gridCol w="1737360"/>
                <a:gridCol w="173736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量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C1（I）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 = 0.1，L = 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C2（II）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 = 0.5，L = 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C3（II）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 = 1，L = 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C4（III）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 = 0.5，L = 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C5（III）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 = 4，L = 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Ψ</a:t>
                      </a:r>
                      <a:pPr algn="l" indent="0" marL="0">
                        <a:buNone/>
                      </a:pPr>
                      <a:r>
                        <a:rPr lang="en-US" sz="1300" baseline="-40000" dirty="0">
                          <a:solidFill>
                            <a:schemeClr val="tx1"/>
                          </a:solidFill>
                        </a:rPr>
                        <a:t>eff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0.000679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0.265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0.614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3.96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28.4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手算 T</a:t>
                      </a:r>
                      <a:pPr algn="l" indent="0" marL="0">
                        <a:buNone/>
                      </a:pPr>
                      <a:r>
                        <a:rPr lang="en-US" sz="1300" baseline="-40000" dirty="0">
                          <a:solidFill>
                            <a:schemeClr val="tx1"/>
                          </a:solidFill>
                        </a:rPr>
                        <a:t>2,f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/ T</a:t>
                      </a:r>
                      <a:pPr algn="l" indent="0" marL="0">
                        <a:buNone/>
                      </a:pPr>
                      <a:r>
                        <a:rPr lang="en-US" sz="1300" baseline="-40000" dirty="0">
                          <a:solidFill>
                            <a:schemeClr val="tx1"/>
                          </a:solidFill>
                        </a:rPr>
                        <a:t>2,s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(ms)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345.1 / 1151.3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268.5 / 1096.6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216.9 / 1064.2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110.5 / 1092.0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22.2 / 1098.9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手算 A</a:t>
                      </a:r>
                      <a:pPr algn="l" indent="0" marL="0">
                        <a:buNone/>
                      </a:pPr>
                      <a:r>
                        <a:rPr lang="en-US" sz="1300" baseline="-400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0.0587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0.0364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0.0220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0.0021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5.8×10⁻⁵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TL T</a:t>
                      </a:r>
                      <a:pPr algn="l" indent="0" marL="0">
                        <a:buNone/>
                      </a:pPr>
                      <a:r>
                        <a:rPr lang="en-US" sz="1300" baseline="-40000" dirty="0">
                          <a:solidFill>
                            <a:schemeClr val="tx1"/>
                          </a:solidFill>
                        </a:rPr>
                        <a:t>2,f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/ T</a:t>
                      </a:r>
                      <a:pPr algn="l" indent="0" marL="0">
                        <a:buNone/>
                      </a:pPr>
                      <a:r>
                        <a:rPr lang="en-US" sz="1300" baseline="-40000" dirty="0">
                          <a:solidFill>
                            <a:schemeClr val="tx1"/>
                          </a:solidFill>
                        </a:rPr>
                        <a:t>2,s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(ms)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346.1 / 1151.5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275.2 / 1098.7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228.8 / 1069.7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111.0 / 1092.7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23.0 / 1107.0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TL A</a:t>
                      </a:r>
                      <a:pPr algn="l" indent="0" marL="0">
                        <a:buNone/>
                      </a:pPr>
                      <a:r>
                        <a:rPr lang="en-US" sz="1300" baseline="-400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0.0591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0.0372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0.0225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0.0021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5.5×10⁻⁵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TL η = A</a:t>
                      </a:r>
                      <a:pPr algn="l" indent="0" marL="0">
                        <a:buNone/>
                      </a:pPr>
                      <a:r>
                        <a:rPr lang="en-US" sz="1300" baseline="-40000" dirty="0">
                          <a:solidFill>
                            <a:schemeClr val="tx1"/>
                          </a:solidFill>
                        </a:rPr>
                        <a:t>f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/p</a:t>
                      </a:r>
                      <a:pPr algn="l" indent="0" marL="0">
                        <a:buNone/>
                      </a:pPr>
                      <a:r>
                        <a:rPr lang="en-US" sz="1300" baseline="-4000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1.0049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0.6325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0.3827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0.0360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9.3×10⁻⁴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NNLS 小峰 / 主峰 (ms)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313.8 / 1154.4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249.5 / 1109.6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214.8 / 1086.7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114.9 / 1111.7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15.7 / 1121.1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NNLS 小峰分数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0.0495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0.0334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0.0231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0.0040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4.1×10⁻⁴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区 I、II：三者一致；区 III：快模态权重 &lt; 0.5%，NNLS 值受噪声底影响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快交换（C5）：小孔峰变成“伪孔”</a:t>
            </a:r>
            <a:endParaRPr lang="en-US" sz="3000" dirty="0"/>
          </a:p>
        </p:txBody>
      </p:sp>
      <p:sp>
        <p:nvSpPr>
          <p:cNvPr id="3" name="badge_1"/>
          <p:cNvSpPr/>
          <p:nvPr/>
        </p:nvSpPr>
        <p:spPr>
          <a:xfrm>
            <a:off x="548640" y="143560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898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快模态权重</a:t>
            </a:r>
            <a:endParaRPr lang="en-US" sz="1500" dirty="0"/>
          </a:p>
        </p:txBody>
      </p:sp>
      <p:pic>
        <p:nvPicPr>
          <p:cNvPr id="6" name="eq_c5_1" descr="c5_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256030"/>
            <a:ext cx="6824447" cy="743204"/>
          </a:xfrm>
          <a:prstGeom prst="rect">
            <a:avLst/>
          </a:prstGeom>
        </p:spPr>
      </p:pic>
      <p:sp>
        <p:nvSpPr>
          <p:cNvPr id="7" name="badge_2"/>
          <p:cNvSpPr/>
          <p:nvPr/>
        </p:nvSpPr>
        <p:spPr>
          <a:xfrm>
            <a:off x="548640" y="262432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5786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快模态 T₂</a:t>
            </a:r>
            <a:endParaRPr lang="en-US" sz="1500" dirty="0"/>
          </a:p>
        </p:txBody>
      </p:sp>
      <p:pic>
        <p:nvPicPr>
          <p:cNvPr id="10" name="eq_c5_2" descr="c5_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480342"/>
            <a:ext cx="7529284" cy="672021"/>
          </a:xfrm>
          <a:prstGeom prst="rect">
            <a:avLst/>
          </a:prstGeom>
        </p:spPr>
      </p:pic>
      <p:sp>
        <p:nvSpPr>
          <p:cNvPr id="11" name="badge_3"/>
          <p:cNvSpPr/>
          <p:nvPr/>
        </p:nvSpPr>
        <p:spPr>
          <a:xfrm>
            <a:off x="548640" y="38130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37673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按孤立孔换算</a:t>
            </a:r>
            <a:endParaRPr lang="en-US" sz="1500" dirty="0"/>
          </a:p>
        </p:txBody>
      </p:sp>
      <p:pic>
        <p:nvPicPr>
          <p:cNvPr id="14" name="eq_c5_3" descr="c5_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61702"/>
            <a:ext cx="5320906" cy="686740"/>
          </a:xfrm>
          <a:prstGeom prst="rect">
            <a:avLst/>
          </a:prstGeom>
        </p:spPr>
      </p:pic>
      <p:sp>
        <p:nvSpPr>
          <p:cNvPr id="15" name="fake_card"/>
          <p:cNvSpPr/>
          <p:nvPr/>
        </p:nvSpPr>
        <p:spPr>
          <a:xfrm>
            <a:off x="548640" y="4983480"/>
            <a:ext cx="11094415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22960" y="50749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快交换时快模态的 T₂ 由交换速率 G</a:t>
            </a:r>
            <a:pPr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/A</a:t>
            </a:r>
            <a:pPr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决定，与小孔 S/V 无关：把它当作孔隙峰换算，会得到一个并不存在的亚微米“孔”。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四条反算路线</a:t>
            </a:r>
            <a:endParaRPr lang="en-US" sz="3000" dirty="0"/>
          </a:p>
        </p:txBody>
      </p:sp>
      <p:sp>
        <p:nvSpPr>
          <p:cNvPr id="3" name="route_card_0"/>
          <p:cNvSpPr/>
          <p:nvPr/>
        </p:nvSpPr>
        <p:spPr>
          <a:xfrm>
            <a:off x="548640" y="1280160"/>
            <a:ext cx="541004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孤立孔公式</a:t>
            </a:r>
            <a:endParaRPr lang="en-US" sz="1800" dirty="0"/>
          </a:p>
        </p:txBody>
      </p:sp>
      <p:pic>
        <p:nvPicPr>
          <p:cNvPr id="5" name="eq_routeA" descr="route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035289" cy="6144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8892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每个峰直接换算；耦合时偏小</a:t>
            </a:r>
            <a:endParaRPr lang="en-US" sz="1400" dirty="0"/>
          </a:p>
        </p:txBody>
      </p:sp>
      <p:sp>
        <p:nvSpPr>
          <p:cNvPr id="7" name="route_card_1"/>
          <p:cNvSpPr/>
          <p:nvPr/>
        </p:nvSpPr>
        <p:spPr>
          <a:xfrm>
            <a:off x="6233008" y="1280160"/>
            <a:ext cx="541004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07328" y="141732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 振幅比</a:t>
            </a:r>
            <a:endParaRPr lang="en-US" sz="1800" dirty="0"/>
          </a:p>
        </p:txBody>
      </p:sp>
      <p:pic>
        <p:nvPicPr>
          <p:cNvPr id="9" name="eq_routeB" descr="route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328" y="1965960"/>
            <a:ext cx="4091521" cy="6604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07328" y="278892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区 I 适用：振幅 ≈ 面积分数，对汇不敏感</a:t>
            </a:r>
            <a:endParaRPr lang="en-US" sz="1400" dirty="0"/>
          </a:p>
        </p:txBody>
      </p:sp>
      <p:sp>
        <p:nvSpPr>
          <p:cNvPr id="11" name="route_card_2"/>
          <p:cNvSpPr/>
          <p:nvPr/>
        </p:nvSpPr>
        <p:spPr>
          <a:xfrm>
            <a:off x="548640" y="3611880"/>
            <a:ext cx="541004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374904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 两点交换反演</a:t>
            </a:r>
            <a:endParaRPr lang="en-US" sz="1800" dirty="0"/>
          </a:p>
        </p:txBody>
      </p:sp>
      <p:pic>
        <p:nvPicPr>
          <p:cNvPr id="13" name="eq_routeC" descr="route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97680"/>
            <a:ext cx="4599102" cy="3704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22960" y="512064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不知喉道：交换与汇无法区分，解不稳定</a:t>
            </a:r>
            <a:endParaRPr lang="en-US" sz="1400" dirty="0"/>
          </a:p>
        </p:txBody>
      </p:sp>
      <p:sp>
        <p:nvSpPr>
          <p:cNvPr id="15" name="route_card_3"/>
          <p:cNvSpPr/>
          <p:nvPr/>
        </p:nvSpPr>
        <p:spPr>
          <a:xfrm>
            <a:off x="6233008" y="3611880"/>
            <a:ext cx="541004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507328" y="374904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 TL 模型反演</a:t>
            </a:r>
            <a:endParaRPr lang="en-US" sz="1800" dirty="0"/>
          </a:p>
        </p:txBody>
      </p:sp>
      <p:pic>
        <p:nvPicPr>
          <p:cNvPr id="17" name="eq_routeD" descr="rout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4297680"/>
            <a:ext cx="4861408" cy="47221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507328" y="512064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已知喉道 w、L（成像或 SIP）：区 I–II 可用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反算结果（SNR 1000）</a:t>
            </a:r>
            <a:endParaRPr lang="en-US" sz="3000" dirty="0"/>
          </a:p>
        </p:txBody>
      </p:sp>
      <p:pic>
        <p:nvPicPr>
          <p:cNvPr id="3" name="fig_fig3_backcalculated_sizes" descr="back-calculated siz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7256708" cy="3703320"/>
          </a:xfrm>
          <a:prstGeom prst="rect">
            <a:avLst/>
          </a:prstGeom>
        </p:spPr>
      </p:pic>
      <p:sp>
        <p:nvSpPr>
          <p:cNvPr id="4" name="res_card_A"/>
          <p:cNvSpPr/>
          <p:nvPr/>
        </p:nvSpPr>
        <p:spPr>
          <a:xfrm>
            <a:off x="548640" y="4892040"/>
            <a:ext cx="2636444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_A"/>
          <p:cNvSpPr/>
          <p:nvPr/>
        </p:nvSpPr>
        <p:spPr>
          <a:xfrm>
            <a:off x="713232" y="5248656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07008" y="4983480"/>
            <a:ext cx="18592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小孔 0.16–3.5 µm；主孔低估 6–15%</a:t>
            </a:r>
            <a:endParaRPr lang="en-US" sz="1300" dirty="0"/>
          </a:p>
        </p:txBody>
      </p:sp>
      <p:sp>
        <p:nvSpPr>
          <p:cNvPr id="8" name="res_card_B"/>
          <p:cNvSpPr/>
          <p:nvPr/>
        </p:nvSpPr>
        <p:spPr>
          <a:xfrm>
            <a:off x="3367964" y="4892040"/>
            <a:ext cx="2636444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_B"/>
          <p:cNvSpPr/>
          <p:nvPr/>
        </p:nvSpPr>
        <p:spPr>
          <a:xfrm>
            <a:off x="3532556" y="5248656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32556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026332" y="4983480"/>
            <a:ext cx="18592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区 I 改善到 4.3 µm；区 II、III 失效</a:t>
            </a:r>
            <a:endParaRPr lang="en-US" sz="1300" dirty="0"/>
          </a:p>
        </p:txBody>
      </p:sp>
      <p:sp>
        <p:nvSpPr>
          <p:cNvPr id="12" name="res_card_C"/>
          <p:cNvSpPr/>
          <p:nvPr/>
        </p:nvSpPr>
        <p:spPr>
          <a:xfrm>
            <a:off x="6187288" y="4892040"/>
            <a:ext cx="2636444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adge_C"/>
          <p:cNvSpPr/>
          <p:nvPr/>
        </p:nvSpPr>
        <p:spPr>
          <a:xfrm>
            <a:off x="6351880" y="5248656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5188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845656" y="4983480"/>
            <a:ext cx="18592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 → 0、残差不为零：缺喉道信息</a:t>
            </a:r>
            <a:endParaRPr lang="en-US" sz="1300" dirty="0"/>
          </a:p>
        </p:txBody>
      </p:sp>
      <p:sp>
        <p:nvSpPr>
          <p:cNvPr id="16" name="res_card_D"/>
          <p:cNvSpPr/>
          <p:nvPr/>
        </p:nvSpPr>
        <p:spPr>
          <a:xfrm>
            <a:off x="9006611" y="4892040"/>
            <a:ext cx="2636444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adge_D"/>
          <p:cNvSpPr/>
          <p:nvPr/>
        </p:nvSpPr>
        <p:spPr>
          <a:xfrm>
            <a:off x="9171203" y="52486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71203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664979" y="4983480"/>
            <a:ext cx="18592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区 I–II：r</a:t>
            </a:r>
            <a:pPr indent="0" marL="0">
              <a:buNone/>
            </a:pPr>
            <a:r>
              <a:rPr lang="en-US" sz="1300" baseline="-40000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4.6–4.8，r</a:t>
            </a:r>
            <a:pPr indent="0" marL="0">
              <a:buNone/>
            </a:pPr>
            <a:r>
              <a:rPr lang="en-US" sz="1300" baseline="-40000" dirty="0">
                <a:solidFill>
                  <a:schemeClr val="tx1"/>
                </a:solidFill>
              </a:rPr>
              <a:t>B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19.6–20.1 µm</a:t>
            </a:r>
            <a:endParaRPr lang="en-US" sz="1300" dirty="0"/>
          </a:p>
        </p:txBody>
      </p:sp>
      <p:sp>
        <p:nvSpPr>
          <p:cNvPr id="20" name="back_card"/>
          <p:cNvSpPr/>
          <p:nvPr/>
        </p:nvSpPr>
        <p:spPr>
          <a:xfrm>
            <a:off x="8079668" y="1097280"/>
            <a:ext cx="3563387" cy="3611880"/>
          </a:xfrm>
          <a:prstGeom prst="roundRect">
            <a:avLst>
              <a:gd name="adj" fmla="val 307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08268" y="1280160"/>
            <a:ext cx="3106187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一致性检验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路线 D 以 TL 精确模态为输入时，五个算例全部回到 5 / 20 µm：剩余误差来自 NNLS 正则化偏差，而不是耦合模型本身。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反算代入示例</a:t>
            </a:r>
            <a:endParaRPr lang="en-US" sz="3000" dirty="0"/>
          </a:p>
        </p:txBody>
      </p:sp>
      <p:sp>
        <p:nvSpPr>
          <p:cNvPr id="3" name="badge_1"/>
          <p:cNvSpPr/>
          <p:nvPr/>
        </p:nvSpPr>
        <p:spPr>
          <a:xfrm>
            <a:off x="548640" y="14813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4356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路线 A（C3）</a:t>
            </a:r>
            <a:endParaRPr lang="en-US" sz="1500" dirty="0"/>
          </a:p>
        </p:txBody>
      </p:sp>
      <p:pic>
        <p:nvPicPr>
          <p:cNvPr id="6" name="eq_bA" descr="b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331849"/>
            <a:ext cx="8396935" cy="683005"/>
          </a:xfrm>
          <a:prstGeom prst="rect">
            <a:avLst/>
          </a:prstGeom>
        </p:spPr>
      </p:pic>
      <p:sp>
        <p:nvSpPr>
          <p:cNvPr id="7" name="badge_2"/>
          <p:cNvSpPr/>
          <p:nvPr/>
        </p:nvSpPr>
        <p:spPr>
          <a:xfrm>
            <a:off x="548640" y="28072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7614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路线 B（C1）</a:t>
            </a:r>
            <a:endParaRPr lang="en-US" sz="1500" dirty="0"/>
          </a:p>
        </p:txBody>
      </p:sp>
      <p:pic>
        <p:nvPicPr>
          <p:cNvPr id="10" name="eq_bB" descr="b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635770"/>
            <a:ext cx="3672774" cy="726923"/>
          </a:xfrm>
          <a:prstGeom prst="rect">
            <a:avLst/>
          </a:prstGeom>
        </p:spPr>
      </p:pic>
      <p:sp>
        <p:nvSpPr>
          <p:cNvPr id="11" name="badge_3"/>
          <p:cNvSpPr/>
          <p:nvPr/>
        </p:nvSpPr>
        <p:spPr>
          <a:xfrm>
            <a:off x="548640" y="413308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40873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区 III（C5）</a:t>
            </a:r>
            <a:endParaRPr lang="en-US" sz="1500" dirty="0"/>
          </a:p>
        </p:txBody>
      </p:sp>
      <p:pic>
        <p:nvPicPr>
          <p:cNvPr id="14" name="eq_bR" descr="b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983609"/>
            <a:ext cx="7233714" cy="6830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0.01 = 2ρ₂（µm/ms）；T₂ 取 NNLS 各峰的 T₂lm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小孔为何被“忽略”：快交换的非唯一性</a:t>
            </a:r>
            <a:endParaRPr lang="en-US" sz="3000" dirty="0"/>
          </a:p>
        </p:txBody>
      </p:sp>
      <p:pic>
        <p:nvPicPr>
          <p:cNvPr id="3" name="fig_fig5_nonuniqueness_fast_exchange" descr="non-uniquen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4419643" cy="4846320"/>
          </a:xfrm>
          <a:prstGeom prst="rect">
            <a:avLst/>
          </a:prstGeom>
        </p:spPr>
      </p:pic>
      <p:pic>
        <p:nvPicPr>
          <p:cNvPr id="4" name="eq_reff" descr="ref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371600"/>
            <a:ext cx="4880293" cy="733552"/>
          </a:xfrm>
          <a:prstGeom prst="rect">
            <a:avLst/>
          </a:prstGeom>
        </p:spPr>
      </p:pic>
      <p:sp>
        <p:nvSpPr>
          <p:cNvPr id="5" name="badge_1"/>
          <p:cNvSpPr/>
          <p:nvPr/>
        </p:nvSpPr>
        <p:spPr>
          <a:xfrm>
            <a:off x="5440680" y="25146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406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989320" y="249631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主峰只给出合并后的 S/V：R</a:t>
            </a:r>
            <a:pPr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eff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= 17.0 µm（NNLS 17.7–17.9 µm）</a:t>
            </a:r>
            <a:endParaRPr lang="en-US" sz="1500" dirty="0"/>
          </a:p>
        </p:txBody>
      </p:sp>
      <p:sp>
        <p:nvSpPr>
          <p:cNvPr id="8" name="badge_2"/>
          <p:cNvSpPr/>
          <p:nvPr/>
        </p:nvSpPr>
        <p:spPr>
          <a:xfrm>
            <a:off x="5440680" y="33832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406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989320" y="336499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曲线上任何 (r</a:t>
            </a:r>
            <a:pPr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r</a:t>
            </a:r>
            <a:pPr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B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) 都给出几乎相同的单峰谱：仅凭 T₂ 无法分离两种孔</a:t>
            </a:r>
            <a:endParaRPr lang="en-US" sz="1500" dirty="0"/>
          </a:p>
        </p:txBody>
      </p:sp>
      <p:sp>
        <p:nvSpPr>
          <p:cNvPr id="11" name="badge_3"/>
          <p:cNvSpPr/>
          <p:nvPr/>
        </p:nvSpPr>
        <p:spPr>
          <a:xfrm>
            <a:off x="5440680" y="42519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4068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989320" y="423367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按“单一孔隙”解读 = 忽略小孔，并把主孔低估约 11%</a:t>
            </a:r>
            <a:endParaRPr lang="en-US" sz="1500" dirty="0"/>
          </a:p>
        </p:txBody>
      </p:sp>
      <p:sp>
        <p:nvSpPr>
          <p:cNvPr id="14" name="badge_4"/>
          <p:cNvSpPr/>
          <p:nvPr/>
        </p:nvSpPr>
        <p:spPr>
          <a:xfrm>
            <a:off x="5440680" y="51206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4068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989320" y="510235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需要额外约束：喉道几何、CT 孔隙体积分配或 T₂–T₂ 交换谱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信噪比的限制：SNR 1000 vs SNR 100</a:t>
            </a:r>
            <a:endParaRPr lang="en-US" sz="3000" dirty="0"/>
          </a:p>
        </p:txBody>
      </p:sp>
      <p:pic>
        <p:nvPicPr>
          <p:cNvPr id="3" name="fig_fig4_spectra_snr" descr="spectra SN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7327789" cy="3063240"/>
          </a:xfrm>
          <a:prstGeom prst="rect">
            <a:avLst/>
          </a:prstGeom>
        </p:spPr>
      </p:pic>
      <p:sp>
        <p:nvSpPr>
          <p:cNvPr id="4" name="snr_card"/>
          <p:cNvSpPr/>
          <p:nvPr/>
        </p:nvSpPr>
        <p:spPr>
          <a:xfrm>
            <a:off x="8150749" y="1097280"/>
            <a:ext cx="3492306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79349" y="1280160"/>
            <a:ext cx="303510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SNR 100 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区 III 小峰全部消失；区 I、II 小峰被正则化拉到 58–143 ms，路线 D 也只得 1.9–2.4 µm。</a:t>
            </a:r>
            <a:endParaRPr lang="en-US" sz="1500" dirty="0"/>
          </a:p>
        </p:txBody>
      </p:sp>
      <p:graphicFrame>
        <p:nvGraphicFramePr>
          <p:cNvPr id="22" name="snr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737360"/>
                <a:gridCol w="1371600"/>
                <a:gridCol w="1463040"/>
                <a:gridCol w="1463040"/>
                <a:gridCol w="2313432"/>
                <a:gridCol w="182880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算例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小峰 T</a:t>
                      </a:r>
                      <a:pPr algn="ctr" indent="0" marL="0">
                        <a:buNone/>
                      </a:pPr>
                      <a:r>
                        <a:rPr lang="en-US" sz="1200" b="1" baseline="-40000" dirty="0">
                          <a:solidFill>
                            <a:schemeClr val="bg1"/>
                          </a:solidFill>
                        </a:rPr>
                        <a:t>2lm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 (ms)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小峰分数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A：r</a:t>
                      </a:r>
                      <a:pPr algn="ctr" indent="0" marL="0">
                        <a:buNone/>
                      </a:pPr>
                      <a:r>
                        <a:rPr lang="en-US" sz="1200" b="1" baseline="-40000" dirty="0">
                          <a:solidFill>
                            <a:schemeClr val="bg1"/>
                          </a:solidFill>
                        </a:rPr>
                        <a:t>S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B：r</a:t>
                      </a:r>
                      <a:pPr algn="ctr" indent="0" marL="0">
                        <a:buNone/>
                      </a:pPr>
                      <a:r>
                        <a:rPr lang="en-US" sz="1200" b="1" baseline="-40000" dirty="0">
                          <a:solidFill>
                            <a:schemeClr val="bg1"/>
                          </a:solidFill>
                        </a:rPr>
                        <a:t>S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D：r</a:t>
                      </a:r>
                      <a:pPr algn="ctr" indent="0" marL="0">
                        <a:buNone/>
                      </a:pPr>
                      <a:r>
                        <a:rPr lang="en-US" sz="1200" b="1" baseline="-40000" dirty="0">
                          <a:solidFill>
                            <a:schemeClr val="bg1"/>
                          </a:solidFill>
                        </a:rPr>
                        <a:t>S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 / r</a:t>
                      </a:r>
                      <a:pPr algn="ctr" indent="0" marL="0">
                        <a:buNone/>
                      </a:pPr>
                      <a:r>
                        <a:rPr lang="en-US" sz="1200" b="1" baseline="-40000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主峰按 A：r</a:t>
                      </a:r>
                      <a:pPr algn="ctr" indent="0" marL="0">
                        <a:buNone/>
                      </a:pPr>
                      <a:r>
                        <a:rPr lang="en-US" sz="1200" b="1" baseline="-40000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C1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142.8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0.0183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1.50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2.44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2.39 / 18.26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17.87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C2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100.5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0.0137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1.04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2.01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2.41 / 17.20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17.02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C3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58.4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0.0086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0.60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1.55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1.90 / 15.16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16.56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C4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无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17.45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C5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无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17.74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反算流程</a:t>
            </a:r>
            <a:endParaRPr lang="en-US" sz="3000" dirty="0"/>
          </a:p>
        </p:txBody>
      </p:sp>
      <p:sp>
        <p:nvSpPr>
          <p:cNvPr id="3" name="flow_card_0"/>
          <p:cNvSpPr/>
          <p:nvPr/>
        </p:nvSpPr>
        <p:spPr>
          <a:xfrm>
            <a:off x="548640" y="1371600"/>
            <a:ext cx="2036003" cy="365760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_1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15788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NNLS 反演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1578803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L-curve；识别高于噪声底的峰；T₂ &lt; 4 TE 不作孔隙解释</a:t>
            </a:r>
            <a:endParaRPr lang="en-US" sz="1600" dirty="0"/>
          </a:p>
        </p:txBody>
      </p:sp>
      <p:sp>
        <p:nvSpPr>
          <p:cNvPr id="8" name="flow_arrow_0"/>
          <p:cNvSpPr/>
          <p:nvPr/>
        </p:nvSpPr>
        <p:spPr>
          <a:xfrm>
            <a:off x="2630363" y="1700784"/>
            <a:ext cx="137160" cy="256032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flow_card_1"/>
          <p:cNvSpPr/>
          <p:nvPr/>
        </p:nvSpPr>
        <p:spPr>
          <a:xfrm>
            <a:off x="2813243" y="1371600"/>
            <a:ext cx="2036003" cy="365760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_2"/>
          <p:cNvSpPr/>
          <p:nvPr/>
        </p:nvSpPr>
        <p:spPr>
          <a:xfrm>
            <a:off x="3041843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41843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041843" y="2240280"/>
            <a:ext cx="15788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一个峰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041843" y="2834640"/>
            <a:ext cx="1578803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报告 R</a:t>
            </a:r>
            <a:pPr indent="0" marL="0">
              <a:buNone/>
            </a:pPr>
            <a:r>
              <a:rPr lang="en-US" sz="1600" baseline="-40000" dirty="0">
                <a:solidFill>
                  <a:schemeClr val="tx1"/>
                </a:solidFill>
              </a:rPr>
              <a:t>eff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，说明为全部连通孔的 S/V 等效尺寸；小孔可能被隐藏</a:t>
            </a:r>
            <a:endParaRPr lang="en-US" sz="1600" dirty="0"/>
          </a:p>
        </p:txBody>
      </p:sp>
      <p:sp>
        <p:nvSpPr>
          <p:cNvPr id="14" name="flow_arrow_1"/>
          <p:cNvSpPr/>
          <p:nvPr/>
        </p:nvSpPr>
        <p:spPr>
          <a:xfrm>
            <a:off x="4894966" y="1700784"/>
            <a:ext cx="137160" cy="256032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flow_card_2"/>
          <p:cNvSpPr/>
          <p:nvPr/>
        </p:nvSpPr>
        <p:spPr>
          <a:xfrm>
            <a:off x="5077846" y="1371600"/>
            <a:ext cx="2036003" cy="365760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_3"/>
          <p:cNvSpPr/>
          <p:nvPr/>
        </p:nvSpPr>
        <p:spPr>
          <a:xfrm>
            <a:off x="5306446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644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06446" y="2240280"/>
            <a:ext cx="15788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两个峰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306446" y="2834640"/>
            <a:ext cx="1578803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路线 B 得初值；有喉道信息时算 Ψ</a:t>
            </a:r>
            <a:pPr indent="0" marL="0">
              <a:buNone/>
            </a:pPr>
            <a:r>
              <a:rPr lang="en-US" sz="1600" baseline="-40000" dirty="0">
                <a:solidFill>
                  <a:schemeClr val="tx1"/>
                </a:solidFill>
              </a:rPr>
              <a:t>eff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、η 判区；区 II 用路线 D</a:t>
            </a:r>
            <a:endParaRPr lang="en-US" sz="1600" dirty="0"/>
          </a:p>
        </p:txBody>
      </p:sp>
      <p:sp>
        <p:nvSpPr>
          <p:cNvPr id="20" name="flow_arrow_2"/>
          <p:cNvSpPr/>
          <p:nvPr/>
        </p:nvSpPr>
        <p:spPr>
          <a:xfrm>
            <a:off x="7159569" y="1700784"/>
            <a:ext cx="137160" cy="256032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flow_card_3"/>
          <p:cNvSpPr/>
          <p:nvPr/>
        </p:nvSpPr>
        <p:spPr>
          <a:xfrm>
            <a:off x="7342449" y="1371600"/>
            <a:ext cx="2036003" cy="365760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badge_4"/>
          <p:cNvSpPr/>
          <p:nvPr/>
        </p:nvSpPr>
        <p:spPr>
          <a:xfrm>
            <a:off x="7571049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71049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571049" y="2240280"/>
            <a:ext cx="15788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自洽检验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571049" y="2834640"/>
            <a:ext cx="1578803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以反算结果正演 TL 模型，确认分区并与实测谱比较</a:t>
            </a:r>
            <a:endParaRPr lang="en-US" sz="1600" dirty="0"/>
          </a:p>
        </p:txBody>
      </p:sp>
      <p:sp>
        <p:nvSpPr>
          <p:cNvPr id="26" name="flow_arrow_3"/>
          <p:cNvSpPr/>
          <p:nvPr/>
        </p:nvSpPr>
        <p:spPr>
          <a:xfrm>
            <a:off x="9424172" y="1700784"/>
            <a:ext cx="137160" cy="256032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flow_card_4"/>
          <p:cNvSpPr/>
          <p:nvPr/>
        </p:nvSpPr>
        <p:spPr>
          <a:xfrm>
            <a:off x="9607052" y="1371600"/>
            <a:ext cx="2036003" cy="365760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badge_5"/>
          <p:cNvSpPr/>
          <p:nvPr/>
        </p:nvSpPr>
        <p:spPr>
          <a:xfrm>
            <a:off x="9835652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83565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835652" y="2240280"/>
            <a:ext cx="15788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SNR 要求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9835652" y="2834640"/>
            <a:ext cx="1578803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次峰分数需远高于噪声底；SNR 100 时区 I 也严重低估小孔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3035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T₂ &lt; 4 TE 的峰受回波间隔限制；区 III 的“一个峰”只能报告等效尺寸，不能据此否认小孔存在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适用边界</a:t>
            </a:r>
            <a:endParaRPr lang="en-US" sz="3000" dirty="0"/>
          </a:p>
        </p:txBody>
      </p:sp>
      <p:sp>
        <p:nvSpPr>
          <p:cNvPr id="3" name="lim_card_0"/>
          <p:cNvSpPr/>
          <p:nvPr/>
        </p:nvSpPr>
        <p:spPr>
          <a:xfrm>
            <a:off x="548640" y="128016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_1"/>
          <p:cNvSpPr/>
          <p:nvPr/>
        </p:nvSpPr>
        <p:spPr>
          <a:xfrm>
            <a:off x="822960" y="15544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54480"/>
            <a:ext cx="426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二维模型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三维圆柱喉道截面 ∝ r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t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²，汇与交换比二维狭缝弱，Ψ 的几何因子需修改。</a:t>
            </a:r>
            <a:endParaRPr lang="en-US" sz="1700" dirty="0"/>
          </a:p>
        </p:txBody>
      </p:sp>
      <p:sp>
        <p:nvSpPr>
          <p:cNvPr id="8" name="lim_card_1"/>
          <p:cNvSpPr/>
          <p:nvPr/>
        </p:nvSpPr>
        <p:spPr>
          <a:xfrm>
            <a:off x="6233008" y="128016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_2"/>
          <p:cNvSpPr/>
          <p:nvPr/>
        </p:nvSpPr>
        <p:spPr>
          <a:xfrm>
            <a:off x="6507328" y="15544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01688" y="1554480"/>
            <a:ext cx="426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快扩散假设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507328" y="214884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孔内 κ ≤ 0.05、喉道 h²/D ≪ T₂；w = 4 µm 时喉道本身像一个 T₂ ≈ 400 ms 的孔。</a:t>
            </a:r>
            <a:endParaRPr lang="en-US" sz="1700" dirty="0"/>
          </a:p>
        </p:txBody>
      </p:sp>
      <p:sp>
        <p:nvSpPr>
          <p:cNvPr id="13" name="lim_card_2"/>
          <p:cNvSpPr/>
          <p:nvPr/>
        </p:nvSpPr>
        <p:spPr>
          <a:xfrm>
            <a:off x="548640" y="356616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_3"/>
          <p:cNvSpPr/>
          <p:nvPr/>
        </p:nvSpPr>
        <p:spPr>
          <a:xfrm>
            <a:off x="822960" y="38404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840480"/>
            <a:ext cx="426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准静态约化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43484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要求 λ ≪ R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t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；宽喉道应改用精确特征方程。</a:t>
            </a:r>
            <a:endParaRPr lang="en-US" sz="1700" dirty="0"/>
          </a:p>
        </p:txBody>
      </p:sp>
      <p:sp>
        <p:nvSpPr>
          <p:cNvPr id="18" name="lim_card_3"/>
          <p:cNvSpPr/>
          <p:nvPr/>
        </p:nvSpPr>
        <p:spPr>
          <a:xfrm>
            <a:off x="6233008" y="356616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_4"/>
          <p:cNvSpPr/>
          <p:nvPr/>
        </p:nvSpPr>
        <p:spPr>
          <a:xfrm>
            <a:off x="6507328" y="38404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07328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01688" y="3840480"/>
            <a:ext cx="426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阈值依赖 p</a:t>
            </a:r>
            <a:pPr indent="0" marL="0">
              <a:buNone/>
            </a:pPr>
            <a:r>
              <a:rPr lang="en-US" sz="1900" b="1" baseline="-40000" dirty="0">
                <a:solidFill>
                  <a:schemeClr val="tx2"/>
                </a:solidFill>
              </a:rPr>
              <a:t>S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507328" y="443484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η = 0.8、0.1 对应的 Ψ 与小孔占比有关，p</a:t>
            </a:r>
            <a:pPr indent="0" marL="0">
              <a:buNone/>
            </a:pPr>
            <a:r>
              <a:rPr lang="en-US" sz="1700" baseline="-40000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不同需重算普适曲线。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参考文献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Anand, V., &amp; Hirasaki, G. J. (2007). Diffusional coupling between micro and macroporosity for NMR relaxation in sandstones and grainstones. </a:t>
            </a:r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Petrophysics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, 48(4), 289–307.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Brownstein, K. R., &amp; Tarr, C. E. (1979). Importance of classical diffusion in NMR studies of water in biological cells. </a:t>
            </a:r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Physical Review A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, 19(6), 2446–2453. https://doi.org/10.1103/PhysRevA.19.2446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Carslaw, H. S., &amp; Jaeger, J. C. (1959). </a:t>
            </a:r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Conduction of heat in solids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(2nd ed.). Oxford, UK: Clarendon Press.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Fleury, M., &amp; Soualem, J. (2009). Quantitative analysis of diffusional pore coupling from T2-store-T2 NMR experiments. </a:t>
            </a:r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Journal of Colloid and Interface Science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, 336(1), 250–259.（卷期页码待核对）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Hansen, P. C. (1992). Analysis of discrete ill-posed problems by means of the L-curve. </a:t>
            </a:r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SIAM Review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, 34(4), 561–580. https://doi.org/10.1137/1034115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Lawson, C. L., &amp; Hanson, R. J. (1974). </a:t>
            </a:r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Solving least squares problems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. Englewood Cliffs, NJ: Prentice-Hall.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McDonald, P. J., Korb, J.-P., Mitchell, J., &amp; Monteilhet, L. (2005). Surface relaxation and chemical exchange in hydrating cement pastes: A two-dimensional NMR relaxation study. </a:t>
            </a:r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Physical Review E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, 72(1), 011409. https://doi.org/10.1103/PhysRevE.72.011409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Ramakrishnan, T. S., Schwartz, L. M., Fordham, E. J., Kenyon, W. E., &amp; Wilkinson, D. J. (1999). Forward models for nuclear magnetic resonance in carbonate rocks. </a:t>
            </a:r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The Log Analyst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, 40(4), 260–270.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Torrey, H. C. (1956). Bloch equations with diffusion terms. </a:t>
            </a:r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Physical Review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, 104(3), 563–565. https://doi.org/10.1103/PhysRev.104.563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Zhou, &amp; Zhang (2025). How does pore structure affect the NMR relaxation in unsaturated porous media. </a:t>
            </a:r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Water Resources Research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.（作者全名、卷期与 DOI 待核对）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Zimmerman, J. R., &amp; Brittin, W. E. (1957). Nuclear magnetic resonance studies in multiple phase systems: Lifetime of a water molecule in an adsorbing phase on silica gel. </a:t>
            </a:r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The Journal of Physical Chemistry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, 61(10), 1328–1333. https://doi.org/10.1021/j150556a015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MR Porous Media">
  <a:themeElements>
    <a:clrScheme name="NMR Porous Media">
      <a:dk1>
        <a:srgbClr val="1A1A1A"/>
      </a:dk1>
      <a:lt1>
        <a:srgbClr val="FFFFFF"/>
      </a:lt1>
      <a:dk2>
        <a:srgbClr val="16384F"/>
      </a:dk2>
      <a:lt2>
        <a:srgbClr val="EEF3F6"/>
      </a:lt2>
      <a:accent1>
        <a:srgbClr val="2C6E8F"/>
      </a:accent1>
      <a:accent2>
        <a:srgbClr val="D9895B"/>
      </a:accent2>
      <a:accent3>
        <a:srgbClr val="8FB0CC"/>
      </a:accent3>
      <a:accent4>
        <a:srgbClr val="5B8C5A"/>
      </a:accent4>
      <a:accent5>
        <a:srgbClr val="7A4F9A"/>
      </a:accent5>
      <a:accent6>
        <a:srgbClr val="6B6B6B"/>
      </a:accent6>
      <a:hlink>
        <a:srgbClr val="2C6E8F"/>
      </a:hlink>
      <a:folHlink>
        <a:srgbClr val="6B6B6B"/>
      </a:folHlink>
    </a:clrScheme>
    <a:fontScheme name="NMR Porous Media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耦合大小孔体系中 NMR T2 的孔径反算</dc:title>
  <dc:subject>PptxGenJS Presentation</dc:subject>
  <dc:creator>PptxGenJS</dc:creator>
  <cp:lastModifiedBy>PptxGenJS</cp:lastModifiedBy>
  <cp:revision>1</cp:revision>
  <dcterms:created xsi:type="dcterms:W3CDTF">2026-10-13T04:23:50Z</dcterms:created>
  <dcterms:modified xsi:type="dcterms:W3CDTF">2026-10-13T04:23:50Z</dcterms:modified>
</cp:coreProperties>
</file>