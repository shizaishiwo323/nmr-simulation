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S(t)</c:v>
                </c:pt>
              </c:strCache>
            </c:strRef>
          </c:tx>
          <c:spPr>
            <a:solidFill>
              <a:srgbClr val="111111"/>
            </a:solidFill>
            <a:ln w="2794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10⁻³</c:v>
                  </c:pt>
                  <c:pt idx="1">
                    <c:v>10⁻²</c:v>
                  </c:pt>
                  <c:pt idx="2">
                    <c:v>10⁻¹</c:v>
                  </c:pt>
                  <c:pt idx="3">
                    <c:v>10⁰</c:v>
                  </c:pt>
                  <c:pt idx="4">
                    <c:v>10¹</c:v>
                  </c:pt>
                  <c:pt idx="5">
                    <c:v>10²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0.9968051145430329</c:v>
                </c:pt>
                <c:pt idx="1">
                  <c:v>0.9685065820791976</c:v>
                </c:pt>
                <c:pt idx="2">
                  <c:v>0.7261490370736909</c:v>
                </c:pt>
                <c:pt idx="3">
                  <c:v>0.040762203978366204</c:v>
                </c:pt>
                <c:pt idx="4">
                  <c:v>1.2664165549094176e-14</c:v>
                </c:pt>
                <c:pt idx="5">
                  <c:v>1.0611231537463512e-139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S(t)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Simulated</c:v>
                </c:pt>
              </c:strCache>
            </c:strRef>
          </c:tx>
          <c:spPr>
            <a:solidFill>
              <a:srgbClr val="0789C7"/>
            </a:solidFill>
            <a:ln w="27940" cap="flat">
              <a:solidFill>
                <a:srgbClr val="0789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789C7"/>
              </a:solidFill>
              <a:ln w="9525" cap="flat">
                <a:solidFill>
                  <a:srgbClr val="0789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10⁻³</c:v>
                  </c:pt>
                  <c:pt idx="1">
                    <c:v>10⁻²</c:v>
                  </c:pt>
                  <c:pt idx="2">
                    <c:v>10⁻¹</c:v>
                  </c:pt>
                  <c:pt idx="3">
                    <c:v>10⁰</c:v>
                  </c:pt>
                  <c:pt idx="4">
                    <c:v>10¹</c:v>
                  </c:pt>
                  <c:pt idx="5">
                    <c:v>10²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0.041145370421205835</c:v>
                </c:pt>
                <c:pt idx="1">
                  <c:v>0.20998804286882294</c:v>
                </c:pt>
                <c:pt idx="2">
                  <c:v>0.940090789675784</c:v>
                </c:pt>
                <c:pt idx="3">
                  <c:v>0.29629697993336784</c:v>
                </c:pt>
                <c:pt idx="4">
                  <c:v>0.3117855795903226</c:v>
                </c:pt>
                <c:pt idx="5">
                  <c:v>0.04279955386949362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Experimental</c:v>
                </c:pt>
              </c:strCache>
            </c:strRef>
          </c:tx>
          <c:spPr>
            <a:solidFill>
              <a:srgbClr val="148B2B"/>
            </a:solidFill>
            <a:ln w="27940" cap="flat">
              <a:solidFill>
                <a:srgbClr val="148B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8B2B"/>
              </a:solidFill>
              <a:ln w="9525" cap="flat">
                <a:solidFill>
                  <a:srgbClr val="148B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10⁻³</c:v>
                  </c:pt>
                  <c:pt idx="1">
                    <c:v>10⁻²</c:v>
                  </c:pt>
                  <c:pt idx="2">
                    <c:v>10⁻¹</c:v>
                  </c:pt>
                  <c:pt idx="3">
                    <c:v>10⁰</c:v>
                  </c:pt>
                  <c:pt idx="4">
                    <c:v>10¹</c:v>
                  </c:pt>
                  <c:pt idx="5">
                    <c:v>10²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0.04019493185623921</c:v>
                </c:pt>
                <c:pt idx="1">
                  <c:v>0.10656827424686273</c:v>
                </c:pt>
                <c:pt idx="2">
                  <c:v>0.8510583848249454</c:v>
                </c:pt>
                <c:pt idx="3">
                  <c:v>0.4787540013886813</c:v>
                </c:pt>
                <c:pt idx="4">
                  <c:v>0.3161044658432076</c:v>
                </c:pt>
                <c:pt idx="5">
                  <c:v>0.04280230075236608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T₂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f(T₂)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normalized decay</c:v>
                </c:pt>
              </c:strCache>
            </c:strRef>
          </c:tx>
          <c:spPr>
            <a:solidFill>
              <a:srgbClr val="111111"/>
            </a:solidFill>
            <a:ln w="2794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10⁻³</c:v>
                  </c:pt>
                  <c:pt idx="1">
                    <c:v>10⁻²</c:v>
                  </c:pt>
                  <c:pt idx="2">
                    <c:v>10⁻¹</c:v>
                  </c:pt>
                  <c:pt idx="3">
                    <c:v>10⁰</c:v>
                  </c:pt>
                  <c:pt idx="4">
                    <c:v>10¹</c:v>
                  </c:pt>
                  <c:pt idx="5">
                    <c:v>10²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0.9968051145430329</c:v>
                </c:pt>
                <c:pt idx="1">
                  <c:v>0.9685065820791976</c:v>
                </c:pt>
                <c:pt idx="2">
                  <c:v>0.7261490370736909</c:v>
                </c:pt>
                <c:pt idx="3">
                  <c:v>0.040762203978366204</c:v>
                </c:pt>
                <c:pt idx="4">
                  <c:v>1.2664165549094176e-14</c:v>
                </c:pt>
                <c:pt idx="5">
                  <c:v>1.0611231537463512e-139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normalized decay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Sg1</c:v>
                </c:pt>
              </c:strCache>
            </c:strRef>
          </c:tx>
          <c:spPr>
            <a:solidFill>
              <a:srgbClr val="0789C7"/>
            </a:solidFill>
            <a:ln w="27940" cap="flat">
              <a:solidFill>
                <a:srgbClr val="0789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789C7"/>
              </a:solidFill>
              <a:ln w="9525" cap="flat">
                <a:solidFill>
                  <a:srgbClr val="0789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10⁻¹</c:v>
                  </c:pt>
                  <c:pt idx="1">
                    <c:v>10⁰</c:v>
                  </c:pt>
                  <c:pt idx="2">
                    <c:v>10¹</c:v>
                  </c:pt>
                  <c:pt idx="3">
                    <c:v>10²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0.98</c:v>
                </c:pt>
                <c:pt idx="2">
                  <c:v>0.32</c:v>
                </c:pt>
                <c:pt idx="3">
                  <c:v>0.03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 (ms)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Sg2</c:v>
                </c:pt>
              </c:strCache>
            </c:strRef>
          </c:tx>
          <c:spPr>
            <a:solidFill>
              <a:srgbClr val="0789C7"/>
            </a:solidFill>
            <a:ln w="27940" cap="flat">
              <a:solidFill>
                <a:srgbClr val="0789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789C7"/>
              </a:solidFill>
              <a:ln w="9525" cap="flat">
                <a:solidFill>
                  <a:srgbClr val="0789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10⁻¹</c:v>
                  </c:pt>
                  <c:pt idx="1">
                    <c:v>10⁰</c:v>
                  </c:pt>
                  <c:pt idx="2">
                    <c:v>10¹</c:v>
                  </c:pt>
                  <c:pt idx="3">
                    <c:v>10²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0.98</c:v>
                </c:pt>
                <c:pt idx="2">
                  <c:v>0.29000000000000004</c:v>
                </c:pt>
                <c:pt idx="3">
                  <c:v>0.03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 (ms)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Sg3</c:v>
                </c:pt>
              </c:strCache>
            </c:strRef>
          </c:tx>
          <c:spPr>
            <a:solidFill>
              <a:srgbClr val="0789C7"/>
            </a:solidFill>
            <a:ln w="27940" cap="flat">
              <a:solidFill>
                <a:srgbClr val="0789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789C7"/>
              </a:solidFill>
              <a:ln w="9525" cap="flat">
                <a:solidFill>
                  <a:srgbClr val="0789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10⁻¹</c:v>
                  </c:pt>
                  <c:pt idx="1">
                    <c:v>10⁰</c:v>
                  </c:pt>
                  <c:pt idx="2">
                    <c:v>10¹</c:v>
                  </c:pt>
                  <c:pt idx="3">
                    <c:v>10²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0.98</c:v>
                </c:pt>
                <c:pt idx="2">
                  <c:v>0.26</c:v>
                </c:pt>
                <c:pt idx="3">
                  <c:v>0.03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 (ms)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S̄(t)</c:v>
                </c:pt>
              </c:strCache>
            </c:strRef>
          </c:tx>
          <c:spPr>
            <a:solidFill>
              <a:srgbClr val="0789C7"/>
            </a:solidFill>
            <a:ln w="27940" cap="flat">
              <a:solidFill>
                <a:srgbClr val="0789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789C7"/>
              </a:solidFill>
              <a:ln w="9525" cap="flat">
                <a:solidFill>
                  <a:srgbClr val="0789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10⁻¹</c:v>
                  </c:pt>
                  <c:pt idx="1">
                    <c:v>10⁰</c:v>
                  </c:pt>
                  <c:pt idx="2">
                    <c:v>10¹</c:v>
                  </c:pt>
                  <c:pt idx="3">
                    <c:v>10²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0.96</c:v>
                </c:pt>
                <c:pt idx="2">
                  <c:v>0.36</c:v>
                </c:pt>
                <c:pt idx="3">
                  <c:v>0.04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 (ms)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S̄(t)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Simulation</c:v>
                </c:pt>
              </c:strCache>
            </c:strRef>
          </c:tx>
          <c:spPr>
            <a:solidFill>
              <a:srgbClr val="0789C7"/>
            </a:solidFill>
            <a:ln w="27940" cap="flat">
              <a:solidFill>
                <a:srgbClr val="0789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789C7"/>
              </a:solidFill>
              <a:ln w="9525" cap="flat">
                <a:solidFill>
                  <a:srgbClr val="0789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10⁻²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10⁻¹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10⁰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10¹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10²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10³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0.000010002285647209789</c:v>
                </c:pt>
                <c:pt idx="1">
                  <c:v>0.00001007232679590409</c:v>
                </c:pt>
                <c:pt idx="2">
                  <c:v>0.000011590977319109185</c:v>
                </c:pt>
                <c:pt idx="3">
                  <c:v>0.000034327836282997176</c:v>
                </c:pt>
                <c:pt idx="4">
                  <c:v>0.00026859356561554997</c:v>
                </c:pt>
                <c:pt idx="5">
                  <c:v>0.0019207623631558011</c:v>
                </c:pt>
                <c:pt idx="6">
                  <c:v>0.009824549639938342</c:v>
                </c:pt>
                <c:pt idx="7">
                  <c:v>0.03505360749967186</c:v>
                </c:pt>
                <c:pt idx="8">
                  <c:v>0.0869905146141686</c:v>
                </c:pt>
                <c:pt idx="9">
                  <c:v>0.15008552525353253</c:v>
                </c:pt>
                <c:pt idx="10">
                  <c:v>0.18001000000002318</c:v>
                </c:pt>
                <c:pt idx="11">
                  <c:v>0.1500855252600337</c:v>
                </c:pt>
                <c:pt idx="12">
                  <c:v>0.08699051549519227</c:v>
                </c:pt>
                <c:pt idx="13">
                  <c:v>0.035053665193346864</c:v>
                </c:pt>
                <c:pt idx="14">
                  <c:v>0.00982637529292738</c:v>
                </c:pt>
                <c:pt idx="15">
                  <c:v>0.001948678654918207</c:v>
                </c:pt>
                <c:pt idx="16">
                  <c:v>0.00047486861152208295</c:v>
                </c:pt>
                <c:pt idx="17">
                  <c:v>0.0007708488189993038</c:v>
                </c:pt>
                <c:pt idx="18">
                  <c:v>0.001282378737447999</c:v>
                </c:pt>
                <c:pt idx="19">
                  <c:v>0.0010695953300575874</c:v>
                </c:pt>
                <c:pt idx="20">
                  <c:v>0.0004368738490988221</c:v>
                </c:pt>
                <c:pt idx="21">
                  <c:v>0.00009310626977914533</c:v>
                </c:pt>
                <c:pt idx="22">
                  <c:v>0.00001781842617479829</c:v>
                </c:pt>
                <c:pt idx="23">
                  <c:v>0.000010355430379136633</c:v>
                </c:pt>
                <c:pt idx="24">
                  <c:v>0.000010007807989914304</c:v>
                </c:pt>
                <c:pt idx="25">
                  <c:v>0.000010000082884517784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Experiment</c:v>
                </c:pt>
              </c:strCache>
            </c:strRef>
          </c:tx>
          <c:spPr>
            <a:solidFill>
              <a:srgbClr val="148B2B"/>
            </a:solidFill>
            <a:ln w="27940" cap="flat">
              <a:solidFill>
                <a:srgbClr val="148B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8B2B"/>
              </a:solidFill>
              <a:ln w="9525" cap="flat">
                <a:solidFill>
                  <a:srgbClr val="148B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10⁻²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10⁻¹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10⁰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10¹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10²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10³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0.000010009507716884433</c:v>
                </c:pt>
                <c:pt idx="1">
                  <c:v>0.000010260133427371789</c:v>
                </c:pt>
                <c:pt idx="2">
                  <c:v>0.000014947557141776012</c:v>
                </c:pt>
                <c:pt idx="3">
                  <c:v>0.00007541241876910871</c:v>
                </c:pt>
                <c:pt idx="4">
                  <c:v>0.0006111797339950027</c:v>
                </c:pt>
                <c:pt idx="5">
                  <c:v>0.003850813233049397</c:v>
                </c:pt>
                <c:pt idx="6">
                  <c:v>0.017067555007441067</c:v>
                </c:pt>
                <c:pt idx="7">
                  <c:v>0.05267051542444416</c:v>
                </c:pt>
                <c:pt idx="8">
                  <c:v>0.11302293774032131</c:v>
                </c:pt>
                <c:pt idx="9">
                  <c:v>0.16860549167400704</c:v>
                </c:pt>
                <c:pt idx="10">
                  <c:v>0.17484906842096706</c:v>
                </c:pt>
                <c:pt idx="11">
                  <c:v>0.12604923091112422</c:v>
                </c:pt>
                <c:pt idx="12">
                  <c:v>0.06317082205214822</c:v>
                </c:pt>
                <c:pt idx="13">
                  <c:v>0.022012367542887507</c:v>
                </c:pt>
                <c:pt idx="14">
                  <c:v>0.005343828895557005</c:v>
                </c:pt>
                <c:pt idx="15">
                  <c:v>0.0009746494178807744</c:v>
                </c:pt>
                <c:pt idx="16">
                  <c:v>0.0004894386808976009</c:v>
                </c:pt>
                <c:pt idx="17">
                  <c:v>0.0010181735354742123</c:v>
                </c:pt>
                <c:pt idx="18">
                  <c:v>0.0012998897212371117</c:v>
                </c:pt>
                <c:pt idx="19">
                  <c:v>0.0008137064251116462</c:v>
                </c:pt>
                <c:pt idx="20">
                  <c:v>0.00025206652719653627</c:v>
                </c:pt>
                <c:pt idx="21">
                  <c:v>0.00004523140966504747</c:v>
                </c:pt>
                <c:pt idx="22">
                  <c:v>0.000012477852662461661</c:v>
                </c:pt>
                <c:pt idx="23">
                  <c:v>0.00001008421132236123</c:v>
                </c:pt>
                <c:pt idx="24">
                  <c:v>0.000010001382977058459</c:v>
                </c:pt>
                <c:pt idx="25">
                  <c:v>0.000010000010975111349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T₂ (ms)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"/>
          <c:min val="0.0000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Amplitude (a.u.)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7" Type="http://schemas.openxmlformats.org/officeDocument/2006/relationships/chart" Target="/ppt/charts/chart2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5" Type="http://schemas.openxmlformats.org/officeDocument/2006/relationships/chart" Target="/ppt/charts/chart7.xml"/><Relationship Id="rId6" Type="http://schemas.openxmlformats.org/officeDocument/2006/relationships/chart" Target="/ppt/charts/chart8.xml"/><Relationship Id="rId1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Pore-scale NMR T₂ Workflow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64592" y="1234440"/>
            <a:ext cx="13258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CT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847088" y="1234440"/>
            <a:ext cx="13258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Slice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11880" y="1234440"/>
            <a:ext cx="13258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Domain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76672" y="1234440"/>
            <a:ext cx="13258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FEM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50608" y="1234440"/>
            <a:ext cx="13258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M(x,t)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06256" y="1234440"/>
            <a:ext cx="13258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S(t)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51008" y="1234440"/>
            <a:ext cx="157276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T₂ Spectrum</a:t>
            </a:r>
            <a:endParaRPr lang="en-US" sz="1300" dirty="0"/>
          </a:p>
        </p:txBody>
      </p:sp>
      <p:pic>
        <p:nvPicPr>
          <p:cNvPr id="10" name="Image 0" descr="C:\Users\imgw\Documents\Codex\NMR模拟\docs\nmr_t2_workflow_ppt_rebuild\final\independent-assets\reconstructed\ct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1298448" cy="2148840"/>
          </a:xfrm>
          <a:prstGeom prst="rect">
            <a:avLst/>
          </a:prstGeom>
        </p:spPr>
      </p:pic>
      <p:pic>
        <p:nvPicPr>
          <p:cNvPr id="11" name="Image 1" descr="C:\Users\imgw\Documents\Codex\NMR模拟\docs\nmr_t2_workflow_ppt_rebuild\final\independent-assets\reconstructed\segmented_sl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2" y="1947672"/>
            <a:ext cx="1353312" cy="1691640"/>
          </a:xfrm>
          <a:prstGeom prst="rect">
            <a:avLst/>
          </a:prstGeom>
        </p:spPr>
      </p:pic>
      <p:pic>
        <p:nvPicPr>
          <p:cNvPr id="12" name="Image 2" descr="C:\Users\imgw\Documents\Codex\NMR模拟\docs\nmr_t2_workflow_ppt_rebuild\final\independent-assets\reconstructed\interface_authoritative_fallb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1920240"/>
            <a:ext cx="1353312" cy="1746504"/>
          </a:xfrm>
          <a:prstGeom prst="rect">
            <a:avLst/>
          </a:prstGeom>
        </p:spPr>
      </p:pic>
      <p:pic>
        <p:nvPicPr>
          <p:cNvPr id="13" name="Image 3" descr="C:\Users\imgw\Documents\Codex\NMR模拟\docs\nmr_t2_workflow_ppt_rebuild\final\independent-assets\reconstructed\fem_m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1874520"/>
            <a:ext cx="1371600" cy="1783080"/>
          </a:xfrm>
          <a:prstGeom prst="rect">
            <a:avLst/>
          </a:prstGeom>
        </p:spPr>
      </p:pic>
      <p:pic>
        <p:nvPicPr>
          <p:cNvPr id="14" name="Image 4" descr="C:\Users\imgw\Documents\Codex\NMR模拟\docs\nmr_t2_workflow_ppt_rebuild\final\independent-assets\reconstructed\magnetization_f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874520"/>
            <a:ext cx="1417320" cy="178308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591056" y="2578608"/>
            <a:ext cx="256032" cy="228600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3273552" y="2578608"/>
            <a:ext cx="256032" cy="228600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5038344" y="2578608"/>
            <a:ext cx="256032" cy="228600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803136" y="2578608"/>
            <a:ext cx="256032" cy="228600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8577072" y="2578608"/>
            <a:ext cx="256032" cy="228600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8650224" y="2578608"/>
            <a:ext cx="228600" cy="228600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8887968" y="1993392"/>
          <a:ext cx="1307592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Shape 14"/>
          <p:cNvSpPr/>
          <p:nvPr/>
        </p:nvSpPr>
        <p:spPr>
          <a:xfrm>
            <a:off x="10168128" y="2578608"/>
            <a:ext cx="201168" cy="228600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graphicFrame>
        <p:nvGraphicFramePr>
          <p:cNvPr id="23" name="Chart 1" descr=""/>
          <p:cNvGraphicFramePr/>
          <p:nvPr/>
        </p:nvGraphicFramePr>
        <p:xfrm>
          <a:off x="10387584" y="1993392"/>
          <a:ext cx="1627632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4" name="Shape 15"/>
          <p:cNvSpPr/>
          <p:nvPr/>
        </p:nvSpPr>
        <p:spPr>
          <a:xfrm>
            <a:off x="10625328" y="1737360"/>
            <a:ext cx="256032" cy="0"/>
          </a:xfrm>
          <a:prstGeom prst="line">
            <a:avLst/>
          </a:prstGeom>
          <a:noFill/>
          <a:ln w="25400">
            <a:solidFill>
              <a:srgbClr val="0789C7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10936224" y="1664208"/>
            <a:ext cx="1234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10625328" y="1938528"/>
            <a:ext cx="256032" cy="0"/>
          </a:xfrm>
          <a:prstGeom prst="line">
            <a:avLst/>
          </a:prstGeom>
          <a:noFill/>
          <a:ln w="25400">
            <a:solidFill>
              <a:srgbClr val="148B2B"/>
            </a:solidFill>
            <a:prstDash val="dash"/>
          </a:ln>
        </p:spPr>
      </p:sp>
      <p:sp>
        <p:nvSpPr>
          <p:cNvPr id="27" name="Text 18"/>
          <p:cNvSpPr/>
          <p:nvPr/>
        </p:nvSpPr>
        <p:spPr>
          <a:xfrm>
            <a:off x="10936224" y="1865376"/>
            <a:ext cx="1234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3675888" y="3867912"/>
            <a:ext cx="256032" cy="0"/>
          </a:xfrm>
          <a:prstGeom prst="line">
            <a:avLst/>
          </a:prstGeom>
          <a:noFill/>
          <a:ln w="25400">
            <a:solidFill>
              <a:srgbClr val="E31A1C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3986784" y="3794760"/>
            <a:ext cx="1234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Solid-fluid boundary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3675888" y="4123944"/>
            <a:ext cx="256032" cy="0"/>
          </a:xfrm>
          <a:prstGeom prst="line">
            <a:avLst/>
          </a:prstGeom>
          <a:noFill/>
          <a:ln w="25400">
            <a:solidFill>
              <a:srgbClr val="07164A"/>
            </a:solidFill>
            <a:prstDash val="dash"/>
          </a:ln>
        </p:spPr>
      </p:sp>
      <p:sp>
        <p:nvSpPr>
          <p:cNvPr id="31" name="Text 22"/>
          <p:cNvSpPr/>
          <p:nvPr/>
        </p:nvSpPr>
        <p:spPr>
          <a:xfrm>
            <a:off x="3986784" y="4050792"/>
            <a:ext cx="1234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Water-air boundary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3593592" y="4937760"/>
            <a:ext cx="502920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7164A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3703320" y="5038344"/>
            <a:ext cx="48006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Geometry   →   M(x,t)   →   S(t)   →   f(T₂)</a:t>
            </a:r>
            <a:endParaRPr lang="en-US" sz="2100" dirty="0"/>
          </a:p>
        </p:txBody>
      </p:sp>
      <p:sp>
        <p:nvSpPr>
          <p:cNvPr id="34" name="Text 25"/>
          <p:cNvSpPr/>
          <p:nvPr/>
        </p:nvSpPr>
        <p:spPr>
          <a:xfrm>
            <a:off x="3063240" y="5916168"/>
            <a:ext cx="6080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representative-slice approximation — not a full 3D solve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43891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Physical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479792" y="210312"/>
            <a:ext cx="42519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T₂ Solver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736592" cy="5440680"/>
          </a:xfrm>
          <a:prstGeom prst="roundRect">
            <a:avLst>
              <a:gd name="adj" fmla="val 965"/>
            </a:avLst>
          </a:prstGeom>
          <a:solidFill>
            <a:srgbClr val="FFFFFF"/>
          </a:solidFill>
          <a:ln w="15240">
            <a:solidFill>
              <a:srgbClr val="0716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39712" y="804672"/>
            <a:ext cx="5102352" cy="5440680"/>
          </a:xfrm>
          <a:prstGeom prst="roundRect">
            <a:avLst>
              <a:gd name="adj" fmla="val 896"/>
            </a:avLst>
          </a:prstGeom>
          <a:solidFill>
            <a:srgbClr val="FFFFFF"/>
          </a:solidFill>
          <a:ln w="15240">
            <a:solidFill>
              <a:srgbClr val="0716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743200"/>
            <a:ext cx="0" cy="-1234440"/>
          </a:xfrm>
          <a:prstGeom prst="line">
            <a:avLst/>
          </a:prstGeom>
          <a:noFill/>
          <a:ln w="19050">
            <a:solidFill>
              <a:srgbClr val="07164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325880" y="2743200"/>
            <a:ext cx="1051560" cy="0"/>
          </a:xfrm>
          <a:prstGeom prst="line">
            <a:avLst/>
          </a:prstGeom>
          <a:noFill/>
          <a:ln w="19050">
            <a:solidFill>
              <a:srgbClr val="07164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25880" y="2743200"/>
            <a:ext cx="-566928" cy="594360"/>
          </a:xfrm>
          <a:prstGeom prst="line">
            <a:avLst/>
          </a:prstGeom>
          <a:noFill/>
          <a:ln w="19050">
            <a:solidFill>
              <a:srgbClr val="07164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25880" y="2743200"/>
            <a:ext cx="566928" cy="-960120"/>
          </a:xfrm>
          <a:prstGeom prst="line">
            <a:avLst/>
          </a:prstGeom>
          <a:noFill/>
          <a:ln w="25400">
            <a:solidFill>
              <a:srgbClr val="07164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514600" y="1143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[mₓ, mᵧ, m_z]</a:t>
            </a:r>
            <a:pPr indent="0" marL="0">
              <a:buNone/>
            </a:pPr>
            <a:r>
              <a:rPr lang="en-US" sz="1900" baseline="30000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560320" y="2743200"/>
            <a:ext cx="50292" cy="24576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0612" y="2767776"/>
            <a:ext cx="50292" cy="-1783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60904" y="2765994"/>
            <a:ext cx="50292" cy="-41651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1196" y="2724343"/>
            <a:ext cx="50292" cy="-34039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61488" y="2690304"/>
            <a:ext cx="50292" cy="34653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11780" y="2724957"/>
            <a:ext cx="50292" cy="81113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62072" y="2806070"/>
            <a:ext cx="50292" cy="18178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12364" y="2824248"/>
            <a:ext cx="50292" cy="-100579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62656" y="2723669"/>
            <a:ext cx="50292" cy="-108583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2948" y="2615086"/>
            <a:ext cx="50292" cy="47505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63240" y="2662591"/>
            <a:ext cx="50292" cy="181568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13532" y="2844158"/>
            <a:ext cx="50292" cy="83463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3824" y="2927621"/>
            <a:ext cx="50292" cy="-161678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14116" y="2765943"/>
            <a:ext cx="50292" cy="-227038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2538905"/>
            <a:ext cx="50292" cy="18284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2557190"/>
            <a:ext cx="50292" cy="276303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64992" y="2833493"/>
            <a:ext cx="50292" cy="185218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5284" y="3018711"/>
            <a:ext cx="50292" cy="-166889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65576" y="2851821"/>
            <a:ext cx="50292" cy="-318915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15868" y="2532906"/>
            <a:ext cx="50292" cy="-54686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2478221"/>
            <a:ext cx="50292" cy="284514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6452" y="2762735"/>
            <a:ext cx="50292" cy="252349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66744" y="3015084"/>
            <a:ext cx="50292" cy="-99825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17036" y="2915258"/>
            <a:ext cx="50292" cy="-304031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67328" y="2611228"/>
            <a:ext cx="50292" cy="-112751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17620" y="2498477"/>
            <a:ext cx="50292" cy="195408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67912" y="2693885"/>
            <a:ext cx="50292" cy="225082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18204" y="2918967"/>
            <a:ext cx="50292" cy="-19590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68496" y="2899377"/>
            <a:ext cx="50292" cy="-197120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18788" y="2702257"/>
            <a:ext cx="50292" cy="-108052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69080" y="2594205"/>
            <a:ext cx="50292" cy="86482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9372" y="2680687"/>
            <a:ext cx="50292" cy="134766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69664" y="2815453"/>
            <a:ext cx="50292" cy="17465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19956" y="2832918"/>
            <a:ext cx="50292" cy="-86494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70248" y="2746424"/>
            <a:ext cx="50292" cy="-63063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20540" y="2683361"/>
            <a:ext cx="50292" cy="22409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70832" y="2705770"/>
            <a:ext cx="50292" cy="54717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21124" y="2760487"/>
            <a:ext cx="50292" cy="16421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71416" y="2776908"/>
            <a:ext cx="50292" cy="-25316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21708" y="2751592"/>
            <a:ext cx="50292" cy="-24012"/>
          </a:xfrm>
          <a:prstGeom prst="line">
            <a:avLst/>
          </a:prstGeom>
          <a:noFill/>
          <a:ln w="16510">
            <a:solidFill>
              <a:srgbClr val="E31A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0" y="2999232"/>
            <a:ext cx="12344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pulse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566928" y="3675888"/>
            <a:ext cx="3154680" cy="1783080"/>
          </a:xfrm>
          <a:prstGeom prst="rect">
            <a:avLst/>
          </a:prstGeom>
          <a:solidFill>
            <a:srgbClr val="FFEAA4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0120" y="4069080"/>
            <a:ext cx="1325880" cy="685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E31A1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37360" y="3886200"/>
            <a:ext cx="1234440" cy="7772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E31A1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25880" y="4617720"/>
            <a:ext cx="1234440" cy="6583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E31A1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23160" y="4434840"/>
            <a:ext cx="1005840" cy="6217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16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2192" y="4005072"/>
            <a:ext cx="219456" cy="219456"/>
          </a:xfrm>
          <a:prstGeom prst="rect">
            <a:avLst/>
          </a:prstGeom>
          <a:solidFill>
            <a:srgbClr val="FFEAA4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96512" y="3995928"/>
            <a:ext cx="640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822192" y="4370832"/>
            <a:ext cx="219456" cy="219456"/>
          </a:xfrm>
          <a:prstGeom prst="rect">
            <a:avLst/>
          </a:prstGeom>
          <a:solidFill>
            <a:srgbClr val="FFFFFF"/>
          </a:solidFill>
          <a:ln w="13970">
            <a:solidFill>
              <a:srgbClr val="E31A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6512" y="4361688"/>
            <a:ext cx="640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822192" y="4736592"/>
            <a:ext cx="219456" cy="219456"/>
          </a:xfrm>
          <a:prstGeom prst="rect">
            <a:avLst/>
          </a:prstGeom>
          <a:solidFill>
            <a:srgbClr val="FFFFFF"/>
          </a:solidFill>
          <a:ln w="13970">
            <a:solidFill>
              <a:srgbClr val="0716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6512" y="4727448"/>
            <a:ext cx="640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074920" y="1508760"/>
            <a:ext cx="1627632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789C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93792" y="1600200"/>
            <a:ext cx="138988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homogeneous field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post-excitation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175504" y="2862072"/>
            <a:ext cx="1463040" cy="411480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68896" y="1161288"/>
            <a:ext cx="3822192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789C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52360" y="1481328"/>
            <a:ext cx="32735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∂M/∂t = D∇²M − M/T₂B</a:t>
            </a:r>
            <a:endParaRPr lang="en-US" sz="2600" dirty="0"/>
          </a:p>
        </p:txBody>
      </p:sp>
      <p:sp>
        <p:nvSpPr>
          <p:cNvPr id="68" name="Shape 66"/>
          <p:cNvSpPr/>
          <p:nvPr/>
        </p:nvSpPr>
        <p:spPr>
          <a:xfrm>
            <a:off x="7004304" y="2761488"/>
            <a:ext cx="2834640" cy="2286000"/>
          </a:xfrm>
          <a:prstGeom prst="rect">
            <a:avLst/>
          </a:prstGeom>
          <a:solidFill>
            <a:srgbClr val="FFEAA4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60920" y="3154680"/>
            <a:ext cx="1417320" cy="822960"/>
          </a:xfrm>
          <a:prstGeom prst="ellipse">
            <a:avLst/>
          </a:prstGeom>
          <a:solidFill>
            <a:srgbClr val="74D0F5">
              <a:alpha val="90000"/>
            </a:srgbClr>
          </a:solidFill>
          <a:ln w="15240">
            <a:solidFill>
              <a:srgbClr val="E31A1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83880" y="3017520"/>
            <a:ext cx="1325880" cy="914400"/>
          </a:xfrm>
          <a:prstGeom prst="ellipse">
            <a:avLst/>
          </a:prstGeom>
          <a:solidFill>
            <a:srgbClr val="74D0F5">
              <a:alpha val="90000"/>
            </a:srgbClr>
          </a:solidFill>
          <a:ln w="15240">
            <a:solidFill>
              <a:srgbClr val="E31A1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98080" y="3794760"/>
            <a:ext cx="1554480" cy="868680"/>
          </a:xfrm>
          <a:prstGeom prst="ellipse">
            <a:avLst/>
          </a:prstGeom>
          <a:solidFill>
            <a:srgbClr val="74D0F5">
              <a:alpha val="90000"/>
            </a:srgbClr>
          </a:solidFill>
          <a:ln w="15240">
            <a:solidFill>
              <a:srgbClr val="E31A1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58200" y="3794760"/>
            <a:ext cx="1097280" cy="731520"/>
          </a:xfrm>
          <a:prstGeom prst="ellipse">
            <a:avLst/>
          </a:prstGeom>
          <a:solidFill>
            <a:srgbClr val="74D0F5">
              <a:alpha val="90000"/>
            </a:srgbClr>
          </a:solidFill>
          <a:ln w="15240">
            <a:solidFill>
              <a:srgbClr val="E31A1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555480" y="3054096"/>
            <a:ext cx="987552" cy="-182880"/>
          </a:xfrm>
          <a:prstGeom prst="line">
            <a:avLst/>
          </a:prstGeom>
          <a:noFill/>
          <a:ln w="17780">
            <a:solidFill>
              <a:srgbClr val="E31A1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61320" y="2761488"/>
            <a:ext cx="960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solid–fluid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0241280" y="3063240"/>
            <a:ext cx="1508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 relaxation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0149840" y="3410712"/>
            <a:ext cx="15544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D∂ₙM + ρₛM = 0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9537192" y="4443984"/>
            <a:ext cx="987552" cy="0"/>
          </a:xfrm>
          <a:prstGeom prst="line">
            <a:avLst/>
          </a:prstGeom>
          <a:noFill/>
          <a:ln w="17780">
            <a:solidFill>
              <a:srgbClr val="0789C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561320" y="4270248"/>
            <a:ext cx="960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water–air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0332720" y="4544568"/>
            <a:ext cx="1325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flux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0314432" y="4855464"/>
            <a:ext cx="1280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D∂ₙM = 0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>
            <a:off x="7516368" y="5340096"/>
            <a:ext cx="22860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789C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726680" y="5413248"/>
            <a:ext cx="187452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M(x,0) = 1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Geometry → FEM Domain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225296"/>
            <a:ext cx="5870448" cy="0"/>
          </a:xfrm>
          <a:prstGeom prst="line">
            <a:avLst/>
          </a:prstGeom>
          <a:noFill/>
          <a:ln w="17780">
            <a:solidFill>
              <a:srgbClr val="0789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25296"/>
            <a:ext cx="0" cy="246888"/>
          </a:xfrm>
          <a:prstGeom prst="line">
            <a:avLst/>
          </a:prstGeom>
          <a:noFill/>
          <a:ln w="17780">
            <a:solidFill>
              <a:srgbClr val="0789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73368" y="1225296"/>
            <a:ext cx="0" cy="246888"/>
          </a:xfrm>
          <a:prstGeom prst="line">
            <a:avLst/>
          </a:prstGeom>
          <a:noFill/>
          <a:ln w="17780">
            <a:solidFill>
              <a:srgbClr val="0789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987552"/>
            <a:ext cx="4709160" cy="393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78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042416"/>
            <a:ext cx="4526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contiguous porosity groups:  max(ϕ) − min(ϕ) ≤ 0.01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1572768"/>
            <a:ext cx="2633472" cy="3721608"/>
          </a:xfrm>
          <a:prstGeom prst="roundRect">
            <a:avLst>
              <a:gd name="adj" fmla="val 1736"/>
            </a:avLst>
          </a:prstGeom>
          <a:solidFill>
            <a:srgbClr val="FFFFFF"/>
          </a:solidFill>
          <a:ln w="15240">
            <a:solidFill>
              <a:srgbClr val="0716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737360"/>
            <a:ext cx="230428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CT stack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1572768"/>
            <a:ext cx="2743200" cy="3721608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5240">
            <a:solidFill>
              <a:srgbClr val="071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737360"/>
            <a:ext cx="24140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2D slice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91072" y="1572768"/>
            <a:ext cx="2651760" cy="37216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5240">
            <a:solidFill>
              <a:srgbClr val="0716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737360"/>
            <a:ext cx="232257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classification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81160" y="1572768"/>
            <a:ext cx="2633472" cy="3721608"/>
          </a:xfrm>
          <a:prstGeom prst="roundRect">
            <a:avLst>
              <a:gd name="adj" fmla="val 1736"/>
            </a:avLst>
          </a:prstGeom>
          <a:solidFill>
            <a:srgbClr val="FFFFFF"/>
          </a:solidFill>
          <a:ln w="15240">
            <a:solidFill>
              <a:srgbClr val="0716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45752" y="1737360"/>
            <a:ext cx="230428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Boundary-refined mesh</a:t>
            </a:r>
            <a:endParaRPr lang="en-US" sz="1400" dirty="0"/>
          </a:p>
        </p:txBody>
      </p:sp>
      <p:pic>
        <p:nvPicPr>
          <p:cNvPr id="16" name="Image 0" descr="C:\Users\imgw\Documents\Codex\NMR模拟\docs\nmr_t2_workflow_ppt_rebuild\final\independent-assets\reconstructed\ct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1993392" cy="2724912"/>
          </a:xfrm>
          <a:prstGeom prst="rect">
            <a:avLst/>
          </a:prstGeom>
        </p:spPr>
      </p:pic>
      <p:pic>
        <p:nvPicPr>
          <p:cNvPr id="17" name="Image 1" descr="C:\Users\imgw\Documents\Codex\NMR模拟\docs\nmr_t2_workflow_ppt_rebuild\final\independent-assets\reconstructed\segmented_sl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2176272"/>
            <a:ext cx="2395728" cy="2395728"/>
          </a:xfrm>
          <a:prstGeom prst="rect">
            <a:avLst/>
          </a:prstGeom>
        </p:spPr>
      </p:pic>
      <p:pic>
        <p:nvPicPr>
          <p:cNvPr id="18" name="Image 2" descr="C:\Users\imgw\Documents\Codex\NMR模拟\docs\nmr_t2_workflow_ppt_rebuild\final\independent-assets\reconstructed\interface_authoritative_fallb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084832"/>
            <a:ext cx="2139696" cy="2514600"/>
          </a:xfrm>
          <a:prstGeom prst="rect">
            <a:avLst/>
          </a:prstGeom>
        </p:spPr>
      </p:pic>
      <p:pic>
        <p:nvPicPr>
          <p:cNvPr id="19" name="Image 3" descr="C:\Users\imgw\Documents\Codex\NMR模拟\docs\nmr_t2_workflow_ppt_rebuild\final\independent-assets\reconstructed\fem_m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2103120"/>
            <a:ext cx="2212848" cy="25420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862072" y="3154680"/>
            <a:ext cx="292608" cy="201168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998464" y="3154680"/>
            <a:ext cx="292608" cy="201168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988552" y="3154680"/>
            <a:ext cx="292608" cy="201168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565392" y="4672584"/>
            <a:ext cx="256032" cy="0"/>
          </a:xfrm>
          <a:prstGeom prst="line">
            <a:avLst/>
          </a:prstGeom>
          <a:noFill/>
          <a:ln w="25400">
            <a:solidFill>
              <a:srgbClr val="E31A1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76288" y="4599432"/>
            <a:ext cx="1234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solid–fluid edge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565392" y="4919472"/>
            <a:ext cx="256032" cy="0"/>
          </a:xfrm>
          <a:prstGeom prst="line">
            <a:avLst/>
          </a:prstGeom>
          <a:noFill/>
          <a:ln w="25400">
            <a:solidFill>
              <a:srgbClr val="0789C7"/>
            </a:solidFill>
            <a:prstDash val="dash"/>
          </a:ln>
        </p:spPr>
      </p:sp>
      <p:sp>
        <p:nvSpPr>
          <p:cNvPr id="26" name="Text 20"/>
          <p:cNvSpPr/>
          <p:nvPr/>
        </p:nvSpPr>
        <p:spPr>
          <a:xfrm>
            <a:off x="6876288" y="4846320"/>
            <a:ext cx="1234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water–air edge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977640" y="5577840"/>
            <a:ext cx="228600" cy="228600"/>
          </a:xfrm>
          <a:prstGeom prst="rect">
            <a:avLst/>
          </a:prstGeom>
          <a:solidFill>
            <a:srgbClr val="E31A1C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288536" y="5568696"/>
            <a:ext cx="65836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623560" y="5577840"/>
            <a:ext cx="228600" cy="228600"/>
          </a:xfrm>
          <a:prstGeom prst="rect">
            <a:avLst/>
          </a:prstGeom>
          <a:solidFill>
            <a:srgbClr val="FFD95A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934456" y="5568696"/>
            <a:ext cx="65836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269480" y="5577840"/>
            <a:ext cx="228600" cy="228600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580376" y="5568696"/>
            <a:ext cx="65836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657600" y="6099048"/>
            <a:ext cx="49834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Ωw = water-occupied domain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Magnetization Evolution → NMR Decay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68680" y="868680"/>
            <a:ext cx="1097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38728" y="868680"/>
            <a:ext cx="1097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310128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relaxation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08776" y="868680"/>
            <a:ext cx="1097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↓↓↓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961888" y="1417320"/>
            <a:ext cx="1508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relaxation</a:t>
            </a:r>
            <a:endParaRPr lang="en-US" sz="1500" dirty="0"/>
          </a:p>
        </p:txBody>
      </p:sp>
      <p:pic>
        <p:nvPicPr>
          <p:cNvPr id="9" name="Image 0" descr="C:\Users\imgw\Documents\Codex\NMR模拟\docs\nmr_t2_workflow_ppt_rebuild\final\independent-assets\reconstructed\mag_t0_authoritative_fall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874520"/>
            <a:ext cx="2121408" cy="2633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0704" y="4553712"/>
            <a:ext cx="65836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t₀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542032" y="2953512"/>
            <a:ext cx="320040" cy="246888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pic>
        <p:nvPicPr>
          <p:cNvPr id="12" name="Image 1" descr="C:\Users\imgw\Documents\Codex\NMR模拟\docs\nmr_t2_workflow_ppt_rebuild\final\independent-assets\reconstructed\mag_t1_authoritative_fall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944" y="1874520"/>
            <a:ext cx="2121408" cy="2633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4553712"/>
            <a:ext cx="65836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t₁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175504" y="2953512"/>
            <a:ext cx="320040" cy="246888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pic>
        <p:nvPicPr>
          <p:cNvPr id="15" name="Image 2" descr="C:\Users\imgw\Documents\Codex\NMR模拟\docs\nmr_t2_workflow_ppt_rebuild\final\independent-assets\reconstructed\mag_t2_authoritative_fallb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1874520"/>
            <a:ext cx="2121408" cy="2633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27648" y="4553712"/>
            <a:ext cx="65836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t₂</a:t>
            </a:r>
            <a:endParaRPr lang="en-US" sz="2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8732520" y="1755648"/>
          <a:ext cx="2926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Text 12"/>
          <p:cNvSpPr/>
          <p:nvPr/>
        </p:nvSpPr>
        <p:spPr>
          <a:xfrm>
            <a:off x="4160520" y="5166360"/>
            <a:ext cx="10972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S(t) =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5321808" y="5102352"/>
            <a:ext cx="43891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100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∫</a:t>
            </a:r>
            <a:endParaRPr lang="en-US" sz="3100" dirty="0"/>
          </a:p>
        </p:txBody>
      </p:sp>
      <p:sp>
        <p:nvSpPr>
          <p:cNvPr id="20" name="Text 14"/>
          <p:cNvSpPr/>
          <p:nvPr/>
        </p:nvSpPr>
        <p:spPr>
          <a:xfrm>
            <a:off x="5413248" y="5468112"/>
            <a:ext cx="43891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Ωw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742432" y="5166360"/>
            <a:ext cx="20574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M(x,t) dΩ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2487168" y="5897880"/>
            <a:ext cx="729691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6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(M + Δt DK + Δt M/T₂B + Δt ρₛRₛ) mⁿ⁺¹ = M mⁿ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Slices → T₂ Spectrum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256032" y="1033272"/>
            <a:ext cx="318211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Porosity groups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703320" y="1033272"/>
            <a:ext cx="23317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decays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02552" y="1033272"/>
            <a:ext cx="19202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decay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64040" y="1033272"/>
            <a:ext cx="21488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NNLS / L-curve</a:t>
            </a:r>
            <a:endParaRPr lang="en-US" sz="1500" dirty="0"/>
          </a:p>
        </p:txBody>
      </p:sp>
      <p:pic>
        <p:nvPicPr>
          <p:cNvPr id="7" name="Image 0" descr="C:\Users\imgw\Documents\Codex\NMR模拟\docs\nmr_t2_workflow_ppt_rebuild\final\independent-assets\reconstructed\porosity_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417320"/>
            <a:ext cx="3401568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11880" y="2852928"/>
            <a:ext cx="292608" cy="201168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3931920" y="1499616"/>
          <a:ext cx="1691640" cy="822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596128" y="1618488"/>
            <a:ext cx="10515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w₁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(N₁ slices)</a:t>
            </a:r>
            <a:endParaRPr lang="en-US" sz="11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3931920" y="2551176"/>
          <a:ext cx="1691640" cy="822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5596128" y="2670048"/>
            <a:ext cx="10515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w₂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(N₂ slices)</a:t>
            </a:r>
            <a:endParaRPr lang="en-US" sz="11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3931920" y="3602736"/>
          <a:ext cx="1691640" cy="822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5596128" y="3721608"/>
            <a:ext cx="10515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w₃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7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(N₃ slices)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647688" y="2816352"/>
            <a:ext cx="292608" cy="201168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graphicFrame>
        <p:nvGraphicFramePr>
          <p:cNvPr id="16" name="Chart 3" descr=""/>
          <p:cNvGraphicFramePr/>
          <p:nvPr/>
        </p:nvGraphicFramePr>
        <p:xfrm>
          <a:off x="6976872" y="1847088"/>
          <a:ext cx="1938528" cy="23591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Shape 10"/>
          <p:cNvSpPr/>
          <p:nvPr/>
        </p:nvSpPr>
        <p:spPr>
          <a:xfrm>
            <a:off x="9043416" y="2816352"/>
            <a:ext cx="292608" cy="201168"/>
          </a:xfrm>
          <a:prstGeom prst="chevron">
            <a:avLst/>
          </a:prstGeom>
          <a:solidFill>
            <a:srgbClr val="07164A"/>
          </a:solidFill>
          <a:ln w="12700">
            <a:solidFill>
              <a:srgbClr val="07164A"/>
            </a:solidFill>
            <a:prstDash val="solid"/>
          </a:ln>
        </p:spPr>
      </p:sp>
      <p:graphicFrame>
        <p:nvGraphicFramePr>
          <p:cNvPr id="18" name="Chart 4" descr=""/>
          <p:cNvGraphicFramePr/>
          <p:nvPr/>
        </p:nvGraphicFramePr>
        <p:xfrm>
          <a:off x="9372600" y="1719072"/>
          <a:ext cx="25603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Shape 11"/>
          <p:cNvSpPr/>
          <p:nvPr/>
        </p:nvSpPr>
        <p:spPr>
          <a:xfrm>
            <a:off x="10040112" y="1472184"/>
            <a:ext cx="256032" cy="0"/>
          </a:xfrm>
          <a:prstGeom prst="line">
            <a:avLst/>
          </a:prstGeom>
          <a:noFill/>
          <a:ln w="25400">
            <a:solidFill>
              <a:srgbClr val="0789C7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10351008" y="1399032"/>
            <a:ext cx="1234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10927080" y="1472184"/>
            <a:ext cx="256032" cy="0"/>
          </a:xfrm>
          <a:prstGeom prst="line">
            <a:avLst/>
          </a:prstGeom>
          <a:noFill/>
          <a:ln w="25400">
            <a:solidFill>
              <a:srgbClr val="148B2B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11237976" y="1399032"/>
            <a:ext cx="1234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3703320" y="5230368"/>
            <a:ext cx="4892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6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representative-slice approximation — not a full 3D solve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896112" y="5541264"/>
            <a:ext cx="103784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789C7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089904" y="5669280"/>
            <a:ext cx="0" cy="585216"/>
          </a:xfrm>
          <a:prstGeom prst="line">
            <a:avLst/>
          </a:prstGeom>
          <a:noFill/>
          <a:ln w="15240">
            <a:solidFill>
              <a:srgbClr val="0789C7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1115568" y="57150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S̄(t) = Σ</a:t>
            </a:r>
            <a:pPr indent="0" marL="0">
              <a:buNone/>
            </a:pPr>
            <a:r>
              <a:rPr lang="en-US" sz="2200" baseline="-400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indent="0" marL="0">
              <a:buNone/>
            </a:pPr>
            <a:r>
              <a:rPr lang="en-US" sz="22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w</a:t>
            </a:r>
            <a:pPr indent="0" marL="0">
              <a:buNone/>
            </a:pPr>
            <a:r>
              <a:rPr lang="en-US" sz="2200" baseline="-400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indent="0" marL="0">
              <a:buNone/>
            </a:pPr>
            <a:r>
              <a:rPr lang="en-US" sz="22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S</a:t>
            </a:r>
            <a:pPr indent="0" marL="0">
              <a:buNone/>
            </a:pPr>
            <a:r>
              <a:rPr lang="en-US" sz="2200" baseline="-400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indent="0" marL="0">
              <a:buNone/>
            </a:pPr>
            <a:r>
              <a:rPr lang="en-US" sz="22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(t) / Σ</a:t>
            </a:r>
            <a:pPr indent="0" marL="0">
              <a:buNone/>
            </a:pPr>
            <a:r>
              <a:rPr lang="en-US" sz="2200" baseline="-400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indent="0" marL="0">
              <a:buNone/>
            </a:pPr>
            <a:r>
              <a:rPr lang="en-US" sz="22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w</a:t>
            </a:r>
            <a:pPr indent="0" marL="0">
              <a:buNone/>
            </a:pPr>
            <a:r>
              <a:rPr lang="en-US" sz="2200" baseline="-400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6492240" y="5650992"/>
            <a:ext cx="658368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</a:t>
            </a:r>
            <a:endParaRPr lang="en-US" sz="2100" dirty="0"/>
          </a:p>
        </p:txBody>
      </p:sp>
      <p:sp>
        <p:nvSpPr>
          <p:cNvPr id="28" name="Text 20"/>
          <p:cNvSpPr/>
          <p:nvPr/>
        </p:nvSpPr>
        <p:spPr>
          <a:xfrm>
            <a:off x="6510528" y="5961888"/>
            <a:ext cx="62179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≥ 0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7150608" y="5715000"/>
            <a:ext cx="35661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789C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‖Kf − s‖² + α²‖Lf‖²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NMR simulation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Pore-scale NMR T2 Workflow</dc:title>
  <dc:subject>Editable pore-scale NMR T2 workflow figures</dc:subject>
  <dc:creator>NMR simulation project</dc:creator>
  <cp:lastModifiedBy>NMR simulation project</cp:lastModifiedBy>
  <cp:revision>1</cp:revision>
  <dcterms:created xsi:type="dcterms:W3CDTF">2026-08-23T15:27:33Z</dcterms:created>
  <dcterms:modified xsi:type="dcterms:W3CDTF">2026-08-23T15:27:33Z</dcterms:modified>
</cp:coreProperties>
</file>